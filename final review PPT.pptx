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72" r:id="rId14"/>
    <p:sldId id="273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555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8632" y="1351193"/>
            <a:ext cx="8528964" cy="800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3831" y="2259514"/>
            <a:ext cx="8550736" cy="3674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7638" y="1245999"/>
            <a:ext cx="8528964" cy="495895"/>
          </a:xfrm>
          <a:prstGeom prst="rect">
            <a:avLst/>
          </a:prstGeom>
        </p:spPr>
        <p:txBody>
          <a:bodyPr vert="horz" wrap="square" lIns="0" tIns="178679" rIns="0" bIns="0" rtlCol="0">
            <a:spAutoFit/>
          </a:bodyPr>
          <a:lstStyle/>
          <a:p>
            <a:pPr marL="704215">
              <a:lnSpc>
                <a:spcPct val="100000"/>
              </a:lnSpc>
              <a:spcBef>
                <a:spcPts val="110"/>
              </a:spcBef>
            </a:pPr>
            <a:r>
              <a:rPr sz="2050" b="1" spc="-20" dirty="0" err="1">
                <a:latin typeface="Times New Roman"/>
                <a:cs typeface="Times New Roman"/>
              </a:rPr>
              <a:t>Streamlit</a:t>
            </a:r>
            <a:r>
              <a:rPr lang="en-US" sz="2050" b="1" spc="-2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Powered</a:t>
            </a:r>
            <a:r>
              <a:rPr sz="2050" b="1" spc="2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Data</a:t>
            </a:r>
            <a:r>
              <a:rPr sz="2050" b="1" spc="5" dirty="0">
                <a:latin typeface="Times New Roman"/>
                <a:cs typeface="Times New Roman"/>
              </a:rPr>
              <a:t> </a:t>
            </a:r>
            <a:r>
              <a:rPr sz="2050" b="1" spc="-10" dirty="0">
                <a:latin typeface="Times New Roman"/>
                <a:cs typeface="Times New Roman"/>
              </a:rPr>
              <a:t>Science</a:t>
            </a:r>
            <a:r>
              <a:rPr lang="en-US" sz="2050" b="1" spc="-10" dirty="0">
                <a:latin typeface="Times New Roman"/>
                <a:cs typeface="Times New Roman"/>
              </a:rPr>
              <a:t> </a:t>
            </a:r>
            <a:r>
              <a:rPr sz="2050" b="1" spc="-10" dirty="0">
                <a:latin typeface="Times New Roman"/>
                <a:cs typeface="Times New Roman"/>
              </a:rPr>
              <a:t>Visualizing</a:t>
            </a:r>
            <a:r>
              <a:rPr sz="2050" b="1" spc="40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Crypto</a:t>
            </a:r>
            <a:r>
              <a:rPr lang="en-US" sz="2050" b="1" dirty="0">
                <a:latin typeface="Times New Roman"/>
                <a:cs typeface="Times New Roman"/>
              </a:rPr>
              <a:t> </a:t>
            </a:r>
            <a:r>
              <a:rPr sz="2050" b="1" dirty="0">
                <a:latin typeface="Times New Roman"/>
                <a:cs typeface="Times New Roman"/>
              </a:rPr>
              <a:t>currency</a:t>
            </a:r>
            <a:r>
              <a:rPr sz="2050" b="1" spc="5" dirty="0">
                <a:latin typeface="Times New Roman"/>
                <a:cs typeface="Times New Roman"/>
              </a:rPr>
              <a:t> </a:t>
            </a:r>
            <a:r>
              <a:rPr sz="2050" b="1" spc="-10" dirty="0">
                <a:latin typeface="Times New Roman"/>
                <a:cs typeface="Times New Roman"/>
              </a:rPr>
              <a:t>Markets</a:t>
            </a:r>
            <a:endParaRPr sz="205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4988" y="1912620"/>
            <a:ext cx="1656587" cy="13350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30822" y="3156954"/>
            <a:ext cx="5055235" cy="939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54025">
              <a:lnSpc>
                <a:spcPct val="131000"/>
              </a:lnSpc>
              <a:spcBef>
                <a:spcPts val="90"/>
              </a:spcBef>
            </a:pPr>
            <a:r>
              <a:rPr sz="1450" b="1" dirty="0">
                <a:latin typeface="Times New Roman"/>
                <a:cs typeface="Times New Roman"/>
              </a:rPr>
              <a:t>Department</a:t>
            </a:r>
            <a:r>
              <a:rPr sz="1450" b="1" spc="7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of</a:t>
            </a:r>
            <a:r>
              <a:rPr sz="1450" b="1" spc="65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Computer</a:t>
            </a:r>
            <a:r>
              <a:rPr sz="1450" b="1" spc="5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Science</a:t>
            </a:r>
            <a:r>
              <a:rPr sz="1450" b="1" spc="8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and</a:t>
            </a:r>
            <a:r>
              <a:rPr sz="1450" b="1" spc="65" dirty="0">
                <a:latin typeface="Times New Roman"/>
                <a:cs typeface="Times New Roman"/>
              </a:rPr>
              <a:t> </a:t>
            </a:r>
            <a:r>
              <a:rPr sz="1450" b="1" spc="-10" dirty="0">
                <a:latin typeface="Times New Roman"/>
                <a:cs typeface="Times New Roman"/>
              </a:rPr>
              <a:t>Engineering </a:t>
            </a:r>
            <a:r>
              <a:rPr sz="1450" b="1" dirty="0">
                <a:latin typeface="Times New Roman"/>
                <a:cs typeface="Times New Roman"/>
              </a:rPr>
              <a:t>Seshadri</a:t>
            </a:r>
            <a:r>
              <a:rPr sz="1450" b="1" spc="10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Rao</a:t>
            </a:r>
            <a:r>
              <a:rPr sz="1450" b="1" spc="10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Gudlavalleru</a:t>
            </a:r>
            <a:r>
              <a:rPr sz="1450" b="1" spc="11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Engineering</a:t>
            </a:r>
            <a:r>
              <a:rPr sz="1450" b="1" spc="8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College,</a:t>
            </a:r>
            <a:r>
              <a:rPr sz="1450" b="1" spc="95" dirty="0">
                <a:latin typeface="Times New Roman"/>
                <a:cs typeface="Times New Roman"/>
              </a:rPr>
              <a:t> </a:t>
            </a:r>
            <a:r>
              <a:rPr sz="1450" b="1" spc="-10" dirty="0">
                <a:latin typeface="Times New Roman"/>
                <a:cs typeface="Times New Roman"/>
              </a:rPr>
              <a:t>Gudlavalleru</a:t>
            </a:r>
            <a:endParaRPr sz="1450">
              <a:latin typeface="Times New Roman"/>
              <a:cs typeface="Times New Roman"/>
            </a:endParaRPr>
          </a:p>
          <a:p>
            <a:pPr marL="120014" algn="ctr">
              <a:lnSpc>
                <a:spcPct val="100000"/>
              </a:lnSpc>
              <a:spcBef>
                <a:spcPts val="900"/>
              </a:spcBef>
            </a:pPr>
            <a:r>
              <a:rPr sz="1450" dirty="0">
                <a:latin typeface="Calibri"/>
                <a:cs typeface="Calibri"/>
              </a:rPr>
              <a:t>Presented</a:t>
            </a:r>
            <a:r>
              <a:rPr sz="1450" spc="-35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By:Team</a:t>
            </a:r>
            <a:r>
              <a:rPr sz="1450" spc="25" dirty="0">
                <a:latin typeface="Calibri"/>
                <a:cs typeface="Calibri"/>
              </a:rPr>
              <a:t> </a:t>
            </a:r>
            <a:r>
              <a:rPr sz="1450" spc="-25" dirty="0">
                <a:latin typeface="Calibri"/>
                <a:cs typeface="Calibri"/>
              </a:rPr>
              <a:t>B17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8012" y="4112761"/>
            <a:ext cx="1355725" cy="1157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0970">
              <a:lnSpc>
                <a:spcPct val="102099"/>
              </a:lnSpc>
              <a:spcBef>
                <a:spcPts val="100"/>
              </a:spcBef>
            </a:pPr>
            <a:r>
              <a:rPr sz="1450" spc="-10" dirty="0">
                <a:latin typeface="Calibri"/>
                <a:cs typeface="Calibri"/>
              </a:rPr>
              <a:t>K.Koteswararao K.Ganesh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450" dirty="0">
                <a:latin typeface="Calibri"/>
                <a:cs typeface="Calibri"/>
              </a:rPr>
              <a:t>J.Keerthi</a:t>
            </a:r>
            <a:r>
              <a:rPr sz="1450" spc="75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Lahari</a:t>
            </a:r>
            <a:endParaRPr sz="1450">
              <a:latin typeface="Calibri"/>
              <a:cs typeface="Calibri"/>
            </a:endParaRPr>
          </a:p>
          <a:p>
            <a:pPr marL="12700" marR="5080">
              <a:lnSpc>
                <a:spcPts val="1789"/>
              </a:lnSpc>
              <a:spcBef>
                <a:spcPts val="55"/>
              </a:spcBef>
            </a:pPr>
            <a:r>
              <a:rPr sz="1450" spc="-10" dirty="0">
                <a:latin typeface="Calibri"/>
                <a:cs typeface="Calibri"/>
              </a:rPr>
              <a:t>K.Venkata</a:t>
            </a:r>
            <a:r>
              <a:rPr sz="1450" spc="-55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Kalyani </a:t>
            </a:r>
            <a:r>
              <a:rPr sz="1450" dirty="0">
                <a:latin typeface="Calibri"/>
                <a:cs typeface="Calibri"/>
              </a:rPr>
              <a:t>G.Thanmai</a:t>
            </a:r>
            <a:r>
              <a:rPr sz="1450" spc="-15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Teja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43996" y="4112761"/>
            <a:ext cx="1021080" cy="11576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10" dirty="0">
                <a:latin typeface="Calibri"/>
                <a:cs typeface="Calibri"/>
              </a:rPr>
              <a:t>21481A0598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450" spc="-10" dirty="0">
                <a:latin typeface="Calibri"/>
                <a:cs typeface="Calibri"/>
              </a:rPr>
              <a:t>21481A0599</a:t>
            </a:r>
            <a:endParaRPr sz="1450">
              <a:latin typeface="Calibri"/>
              <a:cs typeface="Calibri"/>
            </a:endParaRPr>
          </a:p>
          <a:p>
            <a:pPr marL="33020">
              <a:lnSpc>
                <a:spcPct val="100000"/>
              </a:lnSpc>
              <a:spcBef>
                <a:spcPts val="45"/>
              </a:spcBef>
            </a:pPr>
            <a:r>
              <a:rPr sz="1450" spc="-10" dirty="0">
                <a:latin typeface="Calibri"/>
                <a:cs typeface="Calibri"/>
              </a:rPr>
              <a:t>21481A0584</a:t>
            </a:r>
            <a:endParaRPr sz="1450">
              <a:latin typeface="Calibri"/>
              <a:cs typeface="Calibri"/>
            </a:endParaRPr>
          </a:p>
          <a:p>
            <a:pPr marL="19685">
              <a:lnSpc>
                <a:spcPct val="100000"/>
              </a:lnSpc>
              <a:spcBef>
                <a:spcPts val="35"/>
              </a:spcBef>
            </a:pPr>
            <a:r>
              <a:rPr sz="1450" spc="-10" dirty="0">
                <a:latin typeface="Calibri"/>
                <a:cs typeface="Calibri"/>
              </a:rPr>
              <a:t>21481A05A5</a:t>
            </a:r>
            <a:endParaRPr sz="1450">
              <a:latin typeface="Calibri"/>
              <a:cs typeface="Calibri"/>
            </a:endParaRPr>
          </a:p>
          <a:p>
            <a:pPr marL="23495">
              <a:lnSpc>
                <a:spcPct val="100000"/>
              </a:lnSpc>
              <a:spcBef>
                <a:spcPts val="50"/>
              </a:spcBef>
            </a:pPr>
            <a:r>
              <a:rPr sz="1450" spc="-10" dirty="0">
                <a:latin typeface="Calibri"/>
                <a:cs typeface="Calibri"/>
              </a:rPr>
              <a:t>21481A0570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96533" y="5511814"/>
            <a:ext cx="3051175" cy="7048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50" dirty="0">
                <a:latin typeface="Times New Roman"/>
                <a:cs typeface="Times New Roman"/>
              </a:rPr>
              <a:t>Under</a:t>
            </a:r>
            <a:r>
              <a:rPr sz="1450" spc="6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the</a:t>
            </a:r>
            <a:r>
              <a:rPr sz="1450" spc="9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guidance</a:t>
            </a:r>
            <a:r>
              <a:rPr sz="1450" spc="60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of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50" b="1" dirty="0">
                <a:latin typeface="Calibri"/>
                <a:cs typeface="Calibri"/>
              </a:rPr>
              <a:t>Mr.</a:t>
            </a:r>
            <a:r>
              <a:rPr sz="1450" b="1" spc="10" dirty="0">
                <a:latin typeface="Calibri"/>
                <a:cs typeface="Calibri"/>
              </a:rPr>
              <a:t> </a:t>
            </a:r>
            <a:r>
              <a:rPr sz="1450" b="1" dirty="0">
                <a:latin typeface="Calibri"/>
                <a:cs typeface="Calibri"/>
              </a:rPr>
              <a:t>U.</a:t>
            </a:r>
            <a:r>
              <a:rPr sz="1450" b="1" spc="15" dirty="0">
                <a:latin typeface="Calibri"/>
                <a:cs typeface="Calibri"/>
              </a:rPr>
              <a:t> </a:t>
            </a:r>
            <a:r>
              <a:rPr sz="1450" b="1" dirty="0">
                <a:latin typeface="Calibri"/>
                <a:cs typeface="Calibri"/>
              </a:rPr>
              <a:t>Vinod</a:t>
            </a:r>
            <a:r>
              <a:rPr sz="1450" b="1" spc="-5" dirty="0">
                <a:latin typeface="Calibri"/>
                <a:cs typeface="Calibri"/>
              </a:rPr>
              <a:t> </a:t>
            </a:r>
            <a:r>
              <a:rPr sz="1450" b="1" dirty="0">
                <a:latin typeface="Calibri"/>
                <a:cs typeface="Calibri"/>
              </a:rPr>
              <a:t>Kumar, M.</a:t>
            </a:r>
            <a:r>
              <a:rPr sz="1450" b="1" spc="15" dirty="0">
                <a:latin typeface="Calibri"/>
                <a:cs typeface="Calibri"/>
              </a:rPr>
              <a:t> </a:t>
            </a:r>
            <a:r>
              <a:rPr sz="1450" b="1" spc="-20" dirty="0">
                <a:latin typeface="Calibri"/>
                <a:cs typeface="Calibri"/>
              </a:rPr>
              <a:t>Tech</a:t>
            </a:r>
            <a:endParaRPr sz="14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1450" dirty="0">
                <a:latin typeface="Times New Roman"/>
                <a:cs typeface="Times New Roman"/>
              </a:rPr>
              <a:t>Assistant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Professor,</a:t>
            </a:r>
            <a:r>
              <a:rPr sz="1450" spc="5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Department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of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CSE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3820" y="1351288"/>
            <a:ext cx="210312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b="1" spc="-10" dirty="0">
                <a:latin typeface="Times New Roman"/>
                <a:cs typeface="Times New Roman"/>
              </a:rPr>
              <a:t>CONTENTS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5404" y="1877099"/>
            <a:ext cx="2376396" cy="35445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248285" algn="l"/>
              </a:tabLst>
            </a:pPr>
            <a:r>
              <a:rPr sz="1300" spc="-10" dirty="0">
                <a:latin typeface="Times New Roman"/>
                <a:cs typeface="Times New Roman"/>
              </a:rPr>
              <a:t>Abstract</a:t>
            </a: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buFont typeface="Wingdings"/>
              <a:buChar char=""/>
              <a:tabLst>
                <a:tab pos="248285" algn="l"/>
              </a:tabLst>
            </a:pPr>
            <a:r>
              <a:rPr sz="1300" dirty="0">
                <a:latin typeface="Times New Roman"/>
                <a:cs typeface="Times New Roman"/>
              </a:rPr>
              <a:t>Related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Work</a:t>
            </a: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Font typeface="Wingdings"/>
              <a:buChar char=""/>
            </a:pPr>
            <a:endParaRPr sz="1300" dirty="0"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buFont typeface="Wingdings"/>
              <a:buChar char=""/>
              <a:tabLst>
                <a:tab pos="248285" algn="l"/>
              </a:tabLst>
            </a:pPr>
            <a:r>
              <a:rPr sz="1300" dirty="0">
                <a:latin typeface="Times New Roman"/>
                <a:cs typeface="Times New Roman"/>
              </a:rPr>
              <a:t>Problem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Statement</a:t>
            </a: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Wingdings"/>
              <a:buChar char=""/>
            </a:pPr>
            <a:endParaRPr sz="1300" dirty="0"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48285" algn="l"/>
              </a:tabLst>
            </a:pPr>
            <a:r>
              <a:rPr sz="1300" spc="-10" dirty="0">
                <a:latin typeface="Times New Roman"/>
                <a:cs typeface="Times New Roman"/>
              </a:rPr>
              <a:t>Objective</a:t>
            </a: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Wingdings"/>
              <a:buChar char=""/>
            </a:pPr>
            <a:endParaRPr sz="1300" dirty="0"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buFont typeface="Wingdings"/>
              <a:buChar char=""/>
              <a:tabLst>
                <a:tab pos="248285" algn="l"/>
              </a:tabLst>
            </a:pPr>
            <a:r>
              <a:rPr sz="1300" dirty="0">
                <a:latin typeface="Times New Roman"/>
                <a:cs typeface="Times New Roman"/>
              </a:rPr>
              <a:t>Proposed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System</a:t>
            </a:r>
            <a:endParaRPr lang="en-US" sz="1300" spc="-10" dirty="0"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buFont typeface="Wingdings"/>
              <a:buChar char=""/>
              <a:tabLst>
                <a:tab pos="248285" algn="l"/>
              </a:tabLst>
            </a:pPr>
            <a:endParaRPr lang="en-US" sz="1300" spc="-10" dirty="0"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buFont typeface="Wingdings"/>
              <a:buChar char=""/>
              <a:tabLst>
                <a:tab pos="248285" algn="l"/>
              </a:tabLst>
            </a:pPr>
            <a:r>
              <a:rPr lang="en-IN" sz="1300" spc="-10" dirty="0">
                <a:latin typeface="Times New Roman"/>
                <a:cs typeface="Times New Roman"/>
              </a:rPr>
              <a:t>Methodology</a:t>
            </a: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Font typeface="Wingdings"/>
              <a:buChar char=""/>
            </a:pPr>
            <a:endParaRPr sz="1300" dirty="0"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buFont typeface="Wingdings"/>
              <a:buChar char=""/>
              <a:tabLst>
                <a:tab pos="248285" algn="l"/>
              </a:tabLst>
            </a:pPr>
            <a:r>
              <a:rPr sz="1300" spc="-10" dirty="0">
                <a:latin typeface="Times New Roman"/>
                <a:cs typeface="Times New Roman"/>
              </a:rPr>
              <a:t>Implementation</a:t>
            </a: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Wingdings"/>
              <a:buChar char=""/>
            </a:pPr>
            <a:endParaRPr sz="1300" dirty="0"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48285" algn="l"/>
              </a:tabLst>
            </a:pPr>
            <a:r>
              <a:rPr sz="1300" spc="-10" dirty="0">
                <a:latin typeface="Times New Roman"/>
                <a:cs typeface="Times New Roman"/>
              </a:rPr>
              <a:t>Results</a:t>
            </a: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Wingdings"/>
              <a:buChar char=""/>
            </a:pPr>
            <a:endParaRPr sz="1300" dirty="0"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48285" algn="l"/>
              </a:tabLst>
            </a:pPr>
            <a:r>
              <a:rPr sz="1300" spc="-10" dirty="0">
                <a:latin typeface="Times New Roman"/>
                <a:cs typeface="Times New Roman"/>
              </a:rPr>
              <a:t>Conclusion</a:t>
            </a:r>
            <a:endParaRPr sz="1300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751E60-6CE6-DE83-92DE-A2CD36E57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2405062"/>
            <a:ext cx="5181600" cy="3081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6066" y="2393715"/>
            <a:ext cx="7788275" cy="3518912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55600" marR="5080" indent="-342900" algn="just">
              <a:lnSpc>
                <a:spcPct val="91400"/>
              </a:lnSpc>
              <a:spcBef>
                <a:spcPts val="330"/>
              </a:spcBef>
              <a:buFont typeface="Wingdings" panose="05000000000000000000" pitchFamily="2" charset="2"/>
              <a:buChar char="Ø"/>
            </a:pPr>
            <a:r>
              <a:rPr sz="2400" dirty="0">
                <a:latin typeface="Times New Roman"/>
                <a:cs typeface="Times New Roman"/>
              </a:rPr>
              <a:t>Cryptocurrency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markets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highly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volatile,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requiring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efficient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tools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real-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3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3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visualization.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1400"/>
              </a:lnSpc>
              <a:spcBef>
                <a:spcPts val="330"/>
              </a:spcBef>
              <a:buFont typeface="Wingdings" panose="05000000000000000000" pitchFamily="2" charset="2"/>
              <a:buChar char="Ø"/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3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2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develops</a:t>
            </a:r>
            <a:r>
              <a:rPr sz="2400" spc="3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web-</a:t>
            </a:r>
            <a:r>
              <a:rPr sz="2400" spc="-10" dirty="0">
                <a:latin typeface="Times New Roman"/>
                <a:cs typeface="Times New Roman"/>
              </a:rPr>
              <a:t>based </a:t>
            </a:r>
            <a:r>
              <a:rPr sz="2400" dirty="0">
                <a:latin typeface="Times New Roman"/>
                <a:cs typeface="Times New Roman"/>
              </a:rPr>
              <a:t>cryptocurrency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visualization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platform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Streamlit,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eliminating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need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traditional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web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development.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1400"/>
              </a:lnSpc>
              <a:spcBef>
                <a:spcPts val="330"/>
              </a:spcBef>
              <a:buFont typeface="Wingdings" panose="05000000000000000000" pitchFamily="2" charset="2"/>
              <a:buChar char="Ø"/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extracted</a:t>
            </a:r>
            <a:r>
              <a:rPr sz="2400" spc="10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CoinMarketCap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BeautifulSoup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(bs4)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cryptocmd,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processed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Pandas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accuracy. 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1400"/>
              </a:lnSpc>
              <a:spcBef>
                <a:spcPts val="330"/>
              </a:spcBef>
              <a:buFont typeface="Wingdings" panose="05000000000000000000" pitchFamily="2" charset="2"/>
              <a:buChar char="Ø"/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deployed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Google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Cloud</a:t>
            </a:r>
            <a:r>
              <a:rPr sz="2400" spc="4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Shell,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ensuring </a:t>
            </a:r>
            <a:r>
              <a:rPr sz="2400" dirty="0">
                <a:latin typeface="Times New Roman"/>
                <a:cs typeface="Times New Roman"/>
              </a:rPr>
              <a:t>accessibility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local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installations.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219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z="3300" b="1" spc="-10" dirty="0">
                <a:latin typeface="Times New Roman"/>
                <a:cs typeface="Times New Roman"/>
              </a:rPr>
              <a:t>Abstract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109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135"/>
              </a:spcBef>
            </a:pPr>
            <a:r>
              <a:rPr b="1" dirty="0">
                <a:latin typeface="Times New Roman"/>
                <a:cs typeface="Times New Roman"/>
              </a:rPr>
              <a:t>Related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spc="-20" dirty="0">
                <a:latin typeface="Times New Roman"/>
                <a:cs typeface="Times New Roman"/>
              </a:rPr>
              <a:t>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53831" y="2259514"/>
            <a:ext cx="8550736" cy="3543662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355600" marR="144780" indent="-342900" algn="just">
              <a:lnSpc>
                <a:spcPct val="81200"/>
              </a:lnSpc>
              <a:spcBef>
                <a:spcPts val="570"/>
              </a:spcBef>
              <a:buFont typeface="Wingdings" panose="05000000000000000000" pitchFamily="2" charset="2"/>
              <a:buChar char="Ø"/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Cryptocurrency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visualization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Python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Streamlit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multifaceted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thatmerges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exploration,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cryptography,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interactive </a:t>
            </a:r>
            <a:r>
              <a:rPr sz="2400" dirty="0">
                <a:latin typeface="Times New Roman"/>
                <a:cs typeface="Times New Roman"/>
              </a:rPr>
              <a:t>presentation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techniques.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endParaRPr lang="en-US" sz="2400" spc="-70" dirty="0">
              <a:latin typeface="Times New Roman"/>
              <a:cs typeface="Times New Roman"/>
            </a:endParaRPr>
          </a:p>
          <a:p>
            <a:pPr marL="355600" marR="144780" indent="-342900" algn="just">
              <a:lnSpc>
                <a:spcPct val="81200"/>
              </a:lnSpc>
              <a:spcBef>
                <a:spcPts val="570"/>
              </a:spcBef>
              <a:buFont typeface="Wingdings" panose="05000000000000000000" pitchFamily="2" charset="2"/>
              <a:buChar char="Ø"/>
            </a:pPr>
            <a:r>
              <a:rPr sz="2400" dirty="0">
                <a:latin typeface="Times New Roman"/>
                <a:cs typeface="Times New Roman"/>
              </a:rPr>
              <a:t>Python,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its </a:t>
            </a:r>
            <a:r>
              <a:rPr sz="2400" dirty="0">
                <a:latin typeface="Times New Roman"/>
                <a:cs typeface="Times New Roman"/>
              </a:rPr>
              <a:t>comprehensive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suite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libraries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Pandas,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NumPy,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Matplotlib,offers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robust </a:t>
            </a:r>
            <a:r>
              <a:rPr sz="2400" dirty="0">
                <a:latin typeface="Times New Roman"/>
                <a:cs typeface="Times New Roman"/>
              </a:rPr>
              <a:t>ecosystem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manipulation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visualization,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rendering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ideal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platform </a:t>
            </a:r>
            <a:r>
              <a:rPr sz="2400" dirty="0">
                <a:latin typeface="Times New Roman"/>
                <a:cs typeface="Times New Roman"/>
              </a:rPr>
              <a:t>forthis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endeavor.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81100"/>
              </a:lnSpc>
              <a:spcBef>
                <a:spcPts val="825"/>
              </a:spcBef>
              <a:buFont typeface="Wingdings" panose="05000000000000000000" pitchFamily="2" charset="2"/>
              <a:buChar char="Ø"/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commence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analysis,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acquisition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preprocessing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paramount.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This </a:t>
            </a:r>
            <a:r>
              <a:rPr sz="2400" dirty="0">
                <a:latin typeface="Times New Roman"/>
                <a:cs typeface="Times New Roman"/>
              </a:rPr>
              <a:t>involves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sourcingdata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APIs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provided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cryptocurrency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exchanges,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blockchain </a:t>
            </a:r>
            <a:r>
              <a:rPr sz="2400" dirty="0">
                <a:latin typeface="Times New Roman"/>
                <a:cs typeface="Times New Roman"/>
              </a:rPr>
              <a:t>explorers,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historical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datarepositories.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831" y="1748984"/>
            <a:ext cx="8618769" cy="3009157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55600" marR="5080" indent="-342900" algn="just">
              <a:lnSpc>
                <a:spcPts val="2140"/>
              </a:lnSpc>
              <a:spcBef>
                <a:spcPts val="365"/>
              </a:spcBef>
              <a:buFont typeface="Wingdings" panose="05000000000000000000" pitchFamily="2" charset="2"/>
              <a:buChar char="Ø"/>
            </a:pPr>
            <a:r>
              <a:rPr sz="2200" dirty="0">
                <a:latin typeface="Times New Roman"/>
                <a:cs typeface="Times New Roman"/>
              </a:rPr>
              <a:t>Sentiment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analysis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constitutes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another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integral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aspect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cryptocurrency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analysis.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By </a:t>
            </a:r>
            <a:r>
              <a:rPr sz="2200" dirty="0">
                <a:latin typeface="Times New Roman"/>
                <a:cs typeface="Times New Roman"/>
              </a:rPr>
              <a:t>scrutinizing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social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media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posts,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news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articles,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forum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discussions,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analysts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can </a:t>
            </a:r>
            <a:r>
              <a:rPr sz="2200" dirty="0">
                <a:latin typeface="Times New Roman"/>
                <a:cs typeface="Times New Roman"/>
              </a:rPr>
              <a:t>gauge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public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sentiment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towards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various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cryptocurrencies</a:t>
            </a:r>
            <a:r>
              <a:rPr lang="en-US" sz="2200" dirty="0">
                <a:latin typeface="Times New Roman"/>
                <a:cs typeface="Times New Roman"/>
              </a:rPr>
              <a:t>.</a:t>
            </a:r>
            <a:r>
              <a:rPr lang="en-US" sz="2200" spc="50" dirty="0">
                <a:latin typeface="Times New Roman"/>
                <a:cs typeface="Times New Roman"/>
              </a:rPr>
              <a:t> </a:t>
            </a:r>
            <a:endParaRPr lang="en-US" sz="220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ts val="1995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/>
                <a:cs typeface="Times New Roman"/>
              </a:rPr>
              <a:t>Regression</a:t>
            </a:r>
            <a:r>
              <a:rPr lang="en-US" sz="2200" spc="2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models,</a:t>
            </a:r>
            <a:r>
              <a:rPr lang="en-US" sz="2200" spc="6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time</a:t>
            </a:r>
            <a:r>
              <a:rPr lang="en-US" sz="2200" spc="5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series</a:t>
            </a:r>
            <a:r>
              <a:rPr lang="en-US" sz="2200" spc="4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analysis,</a:t>
            </a:r>
            <a:r>
              <a:rPr lang="en-US" sz="2200" spc="6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and</a:t>
            </a:r>
            <a:r>
              <a:rPr lang="en-US" sz="2200" spc="4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clustering</a:t>
            </a:r>
            <a:r>
              <a:rPr lang="en-US" sz="2200" spc="2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algorithms</a:t>
            </a:r>
            <a:r>
              <a:rPr lang="en-US" sz="2200" spc="4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can</a:t>
            </a:r>
            <a:r>
              <a:rPr lang="en-US" sz="2200" spc="4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be</a:t>
            </a:r>
            <a:r>
              <a:rPr lang="en-US" sz="2200" spc="55" dirty="0">
                <a:latin typeface="Times New Roman"/>
                <a:cs typeface="Times New Roman"/>
              </a:rPr>
              <a:t> </a:t>
            </a:r>
            <a:r>
              <a:rPr lang="en-US" sz="2200" spc="-10" dirty="0">
                <a:latin typeface="Times New Roman"/>
                <a:cs typeface="Times New Roman"/>
              </a:rPr>
              <a:t>leveraged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uncover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patterns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within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cryptocurrency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data.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endParaRPr lang="en-US" sz="2200" spc="65" dirty="0">
              <a:latin typeface="Times New Roman"/>
              <a:cs typeface="Times New Roman"/>
            </a:endParaRPr>
          </a:p>
          <a:p>
            <a:pPr marL="355600" marR="299085" indent="-342900" algn="just">
              <a:lnSpc>
                <a:spcPts val="2140"/>
              </a:lnSpc>
              <a:spcBef>
                <a:spcPts val="135"/>
              </a:spcBef>
              <a:buFont typeface="Wingdings" panose="05000000000000000000" pitchFamily="2" charset="2"/>
              <a:buChar char="Ø"/>
            </a:pPr>
            <a:r>
              <a:rPr sz="2200" dirty="0" err="1">
                <a:latin typeface="Times New Roman"/>
                <a:cs typeface="Times New Roman"/>
              </a:rPr>
              <a:t>Streamlit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emerges</a:t>
            </a:r>
            <a:r>
              <a:rPr sz="2200" spc="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pivotal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component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crafting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interactive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visualizations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dashboards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showcase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cryptocurrency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analysis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results.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endParaRPr lang="en-US" sz="2200" spc="10" dirty="0">
              <a:latin typeface="Times New Roman"/>
              <a:cs typeface="Times New Roman"/>
            </a:endParaRPr>
          </a:p>
          <a:p>
            <a:pPr marL="355600" marR="299085" indent="-342900" algn="just">
              <a:lnSpc>
                <a:spcPts val="2140"/>
              </a:lnSpc>
              <a:spcBef>
                <a:spcPts val="135"/>
              </a:spcBef>
              <a:buFont typeface="Wingdings" panose="05000000000000000000" pitchFamily="2" charset="2"/>
              <a:buChar char="Ø"/>
            </a:pP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intuitive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interface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declarative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syntax,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Streamlit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facilitates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rapid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prototyping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deployment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 </a:t>
            </a:r>
            <a:r>
              <a:rPr sz="2200" dirty="0">
                <a:latin typeface="Times New Roman"/>
                <a:cs typeface="Times New Roman"/>
              </a:rPr>
              <a:t>data-driven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applications.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219" rIns="0" bIns="0" rtlCol="0">
            <a:spAutoFit/>
          </a:bodyPr>
          <a:lstStyle/>
          <a:p>
            <a:pPr marL="2885440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imes New Roman"/>
                <a:cs typeface="Times New Roman"/>
              </a:rPr>
              <a:t>Problem</a:t>
            </a:r>
            <a:r>
              <a:rPr sz="3300" b="1" spc="-120" dirty="0">
                <a:latin typeface="Times New Roman"/>
                <a:cs typeface="Times New Roman"/>
              </a:rPr>
              <a:t> </a:t>
            </a:r>
            <a:r>
              <a:rPr sz="3300" b="1" spc="-10" dirty="0">
                <a:latin typeface="Times New Roman"/>
                <a:cs typeface="Times New Roman"/>
              </a:rPr>
              <a:t>Statement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9723" y="2443993"/>
            <a:ext cx="8061959" cy="3542636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55600" marR="5080" indent="-342900" algn="just">
              <a:lnSpc>
                <a:spcPct val="90000"/>
              </a:lnSpc>
              <a:spcBef>
                <a:spcPts val="305"/>
              </a:spcBef>
              <a:buFont typeface="Wingdings" panose="05000000000000000000" pitchFamily="2" charset="2"/>
              <a:buChar char="Ø"/>
            </a:pPr>
            <a:r>
              <a:rPr sz="2000" spc="-10" dirty="0">
                <a:latin typeface="Times New Roman"/>
                <a:cs typeface="Times New Roman"/>
              </a:rPr>
              <a:t>Cryptocurrency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volatile,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prices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fluctuating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rapidly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various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factors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demand,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regulations,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investor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sentiment.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endParaRPr lang="en-US" sz="2000" spc="-55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305"/>
              </a:spcBef>
              <a:buFont typeface="Wingdings" panose="05000000000000000000" pitchFamily="2" charset="2"/>
              <a:buChar char="Ø"/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aims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lightweight,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interactive,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user-friendly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that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historical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cryptocurrency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endParaRPr lang="en-US" sz="2000" spc="-6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305"/>
              </a:spcBef>
              <a:buFont typeface="Wingdings" panose="05000000000000000000" pitchFamily="2" charset="2"/>
              <a:buChar char="Ø"/>
            </a:pP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utilizing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scraping (BeautifulSoup,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cryptocmd)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extraction,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Pandas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visualization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tools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Matplotlib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Seaborn,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enables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analyze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trends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efficiently.</a:t>
            </a:r>
            <a:endParaRPr sz="2000" dirty="0">
              <a:latin typeface="Times New Roman"/>
              <a:cs typeface="Times New Roman"/>
            </a:endParaRPr>
          </a:p>
          <a:p>
            <a:pPr marL="355600" marR="63500" indent="-342900" algn="just">
              <a:lnSpc>
                <a:spcPct val="90000"/>
              </a:lnSpc>
              <a:spcBef>
                <a:spcPts val="819"/>
              </a:spcBef>
              <a:buFont typeface="Wingdings" panose="05000000000000000000" pitchFamily="2" charset="2"/>
              <a:buChar char="Ø"/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Streamlit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Google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Shell,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eliminating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traditional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development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accessibility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scalability.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219" rIns="0" bIns="0" rtlCol="0">
            <a:spAutoFit/>
          </a:bodyPr>
          <a:lstStyle/>
          <a:p>
            <a:pPr marL="3749040">
              <a:lnSpc>
                <a:spcPct val="100000"/>
              </a:lnSpc>
              <a:spcBef>
                <a:spcPts val="100"/>
              </a:spcBef>
            </a:pPr>
            <a:r>
              <a:rPr sz="3300" b="1" spc="-10" dirty="0">
                <a:latin typeface="Times New Roman"/>
                <a:cs typeface="Times New Roman"/>
              </a:rPr>
              <a:t>Objective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23837" y="2476134"/>
            <a:ext cx="6064250" cy="282638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91160" indent="-378460">
              <a:lnSpc>
                <a:spcPct val="100000"/>
              </a:lnSpc>
              <a:spcBef>
                <a:spcPts val="590"/>
              </a:spcBef>
              <a:buAutoNum type="arabicPeriod"/>
              <a:tabLst>
                <a:tab pos="391160" algn="l"/>
              </a:tabLst>
            </a:pPr>
            <a:r>
              <a:rPr sz="2650" dirty="0">
                <a:latin typeface="Times New Roman"/>
                <a:cs typeface="Times New Roman"/>
              </a:rPr>
              <a:t>Develop</a:t>
            </a:r>
            <a:r>
              <a:rPr sz="2650" spc="-9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25" dirty="0">
                <a:latin typeface="Times New Roman"/>
                <a:cs typeface="Times New Roman"/>
              </a:rPr>
              <a:t>User-</a:t>
            </a:r>
            <a:r>
              <a:rPr sz="2650" dirty="0">
                <a:latin typeface="Times New Roman"/>
                <a:cs typeface="Times New Roman"/>
              </a:rPr>
              <a:t>Friendly</a:t>
            </a:r>
            <a:r>
              <a:rPr sz="2650" spc="-80" dirty="0">
                <a:latin typeface="Times New Roman"/>
                <a:cs typeface="Times New Roman"/>
              </a:rPr>
              <a:t> </a:t>
            </a:r>
            <a:r>
              <a:rPr sz="2650" spc="-95" dirty="0">
                <a:latin typeface="Times New Roman"/>
                <a:cs typeface="Times New Roman"/>
              </a:rPr>
              <a:t>Web</a:t>
            </a:r>
            <a:r>
              <a:rPr sz="2650" spc="-16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Application</a:t>
            </a:r>
            <a:endParaRPr sz="2650">
              <a:latin typeface="Times New Roman"/>
              <a:cs typeface="Times New Roman"/>
            </a:endParaRPr>
          </a:p>
          <a:p>
            <a:pPr marL="391160" indent="-378460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391160" algn="l"/>
              </a:tabLst>
            </a:pPr>
            <a:r>
              <a:rPr sz="2650" spc="-20" dirty="0">
                <a:latin typeface="Times New Roman"/>
                <a:cs typeface="Times New Roman"/>
              </a:rPr>
              <a:t>Real-</a:t>
            </a:r>
            <a:r>
              <a:rPr sz="2650" dirty="0">
                <a:latin typeface="Times New Roman"/>
                <a:cs typeface="Times New Roman"/>
              </a:rPr>
              <a:t>Time</a:t>
            </a:r>
            <a:r>
              <a:rPr sz="2650" spc="-8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&amp;</a:t>
            </a:r>
            <a:r>
              <a:rPr sz="2650" spc="-8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Historical</a:t>
            </a:r>
            <a:r>
              <a:rPr sz="2650" spc="-8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Data</a:t>
            </a:r>
            <a:r>
              <a:rPr sz="2650" spc="-10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Extraction</a:t>
            </a:r>
            <a:endParaRPr sz="2650">
              <a:latin typeface="Times New Roman"/>
              <a:cs typeface="Times New Roman"/>
            </a:endParaRPr>
          </a:p>
          <a:p>
            <a:pPr marL="391160" indent="-378460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391160" algn="l"/>
              </a:tabLst>
            </a:pPr>
            <a:r>
              <a:rPr sz="2650" dirty="0">
                <a:latin typeface="Times New Roman"/>
                <a:cs typeface="Times New Roman"/>
              </a:rPr>
              <a:t>Data</a:t>
            </a:r>
            <a:r>
              <a:rPr sz="2650" spc="-7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Processing</a:t>
            </a:r>
            <a:r>
              <a:rPr sz="2650" spc="-8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&amp;</a:t>
            </a:r>
            <a:r>
              <a:rPr sz="2650" spc="-8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Cleaning</a:t>
            </a:r>
            <a:endParaRPr sz="2650">
              <a:latin typeface="Times New Roman"/>
              <a:cs typeface="Times New Roman"/>
            </a:endParaRPr>
          </a:p>
          <a:p>
            <a:pPr marL="391160" indent="-378460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391160" algn="l"/>
              </a:tabLst>
            </a:pPr>
            <a:r>
              <a:rPr sz="2650" dirty="0">
                <a:latin typeface="Times New Roman"/>
                <a:cs typeface="Times New Roman"/>
              </a:rPr>
              <a:t>Interactive</a:t>
            </a:r>
            <a:r>
              <a:rPr sz="2650" spc="-10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Data</a:t>
            </a:r>
            <a:r>
              <a:rPr sz="2650" spc="-1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Visualization</a:t>
            </a:r>
            <a:endParaRPr sz="2650">
              <a:latin typeface="Times New Roman"/>
              <a:cs typeface="Times New Roman"/>
            </a:endParaRPr>
          </a:p>
          <a:p>
            <a:pPr marL="391160" indent="-37846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391160" algn="l"/>
              </a:tabLst>
            </a:pPr>
            <a:r>
              <a:rPr sz="2650" spc="-25" dirty="0">
                <a:latin typeface="Times New Roman"/>
                <a:cs typeface="Times New Roman"/>
              </a:rPr>
              <a:t>Cloud-</a:t>
            </a:r>
            <a:r>
              <a:rPr sz="2650" dirty="0">
                <a:latin typeface="Times New Roman"/>
                <a:cs typeface="Times New Roman"/>
              </a:rPr>
              <a:t>Based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Deployment</a:t>
            </a:r>
            <a:endParaRPr sz="2650">
              <a:latin typeface="Times New Roman"/>
              <a:cs typeface="Times New Roman"/>
            </a:endParaRPr>
          </a:p>
          <a:p>
            <a:pPr marL="391160" indent="-37846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91160" algn="l"/>
              </a:tabLst>
            </a:pPr>
            <a:r>
              <a:rPr sz="2650" dirty="0">
                <a:latin typeface="Times New Roman"/>
                <a:cs typeface="Times New Roman"/>
              </a:rPr>
              <a:t>Enhance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Decision-</a:t>
            </a:r>
            <a:r>
              <a:rPr sz="2650" dirty="0">
                <a:latin typeface="Times New Roman"/>
                <a:cs typeface="Times New Roman"/>
              </a:rPr>
              <a:t>Making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for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Users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1997" y="1259876"/>
            <a:ext cx="326009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dirty="0">
                <a:latin typeface="Times New Roman"/>
                <a:cs typeface="Times New Roman"/>
              </a:rPr>
              <a:t>Proposed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sz="3300" b="1" spc="-10" dirty="0">
                <a:latin typeface="Times New Roman"/>
                <a:cs typeface="Times New Roman"/>
              </a:rPr>
              <a:t>System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2285056"/>
            <a:ext cx="8954135" cy="3793987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55600" marR="5080" indent="-342900" algn="just">
              <a:lnSpc>
                <a:spcPct val="90000"/>
              </a:lnSpc>
              <a:spcBef>
                <a:spcPts val="305"/>
              </a:spcBef>
              <a:buFont typeface="Wingdings" panose="05000000000000000000" pitchFamily="2" charset="2"/>
              <a:buChar char="Ø"/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"Crypto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Visualization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Python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Streamlit"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aims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revolutionize </a:t>
            </a:r>
            <a:r>
              <a:rPr sz="2000" dirty="0">
                <a:latin typeface="Times New Roman"/>
                <a:cs typeface="Times New Roman"/>
              </a:rPr>
              <a:t>cryptocurrency</a:t>
            </a:r>
            <a:r>
              <a:rPr sz="2000" spc="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10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visualization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offering</a:t>
            </a:r>
            <a:r>
              <a:rPr sz="2000" spc="8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9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cutting-</a:t>
            </a:r>
            <a:r>
              <a:rPr sz="2000" dirty="0">
                <a:latin typeface="Times New Roman"/>
                <a:cs typeface="Times New Roman"/>
              </a:rPr>
              <a:t>edge</a:t>
            </a:r>
            <a:r>
              <a:rPr sz="2000" spc="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solution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9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address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existing </a:t>
            </a:r>
            <a:r>
              <a:rPr sz="2000" dirty="0">
                <a:latin typeface="Times New Roman"/>
                <a:cs typeface="Times New Roman"/>
              </a:rPr>
              <a:t>challenges.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endParaRPr lang="en-US" sz="2000" spc="155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305"/>
              </a:spcBef>
              <a:buFont typeface="Wingdings" panose="05000000000000000000" pitchFamily="2" charset="2"/>
              <a:buChar char="Ø"/>
            </a:pPr>
            <a:r>
              <a:rPr sz="2000" dirty="0">
                <a:latin typeface="Times New Roman"/>
                <a:cs typeface="Times New Roman"/>
              </a:rPr>
              <a:t>Key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features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proposed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comprehensive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visualization </a:t>
            </a:r>
            <a:r>
              <a:rPr sz="2000" dirty="0">
                <a:latin typeface="Times New Roman"/>
                <a:cs typeface="Times New Roman"/>
              </a:rPr>
              <a:t>tools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Python,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Streamlit,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Matplotlib,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Seaborn,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Base64.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endParaRPr lang="en-US" sz="2000" spc="5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305"/>
              </a:spcBef>
              <a:buFont typeface="Wingdings" panose="05000000000000000000" pitchFamily="2" charset="2"/>
              <a:buChar char="Ø"/>
            </a:pPr>
            <a:r>
              <a:rPr sz="2000" dirty="0">
                <a:latin typeface="Times New Roman"/>
                <a:cs typeface="Times New Roman"/>
              </a:rPr>
              <a:t>Furthermore, 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integrates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educational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insights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cryptocurrency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trends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enhance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users'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knowledge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understanding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crypto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market.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endParaRPr lang="en-US" sz="2000" spc="17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305"/>
              </a:spcBef>
              <a:buFont typeface="Wingdings" panose="05000000000000000000" pitchFamily="2" charset="2"/>
              <a:buChar char="Ø"/>
            </a:pPr>
            <a:r>
              <a:rPr sz="2000" dirty="0">
                <a:latin typeface="Times New Roman"/>
                <a:cs typeface="Times New Roman"/>
              </a:rPr>
              <a:t>Hosted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Google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Cloud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Shell,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scalability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accessibility,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enabling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platform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diverse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devices </a:t>
            </a:r>
            <a:r>
              <a:rPr sz="2000" dirty="0">
                <a:latin typeface="Times New Roman"/>
                <a:cs typeface="Times New Roman"/>
              </a:rPr>
              <a:t>and locations.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endParaRPr lang="en-US" sz="2000" spc="-15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305"/>
              </a:spcBef>
              <a:buFont typeface="Wingdings" panose="05000000000000000000" pitchFamily="2" charset="2"/>
              <a:buChar char="Ø"/>
            </a:pPr>
            <a:r>
              <a:rPr sz="2000" dirty="0">
                <a:latin typeface="Times New Roman"/>
                <a:cs typeface="Times New Roman"/>
              </a:rPr>
              <a:t>Overall,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"Crypto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Visualization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Python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Streamlit"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presents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holistic </a:t>
            </a:r>
            <a:r>
              <a:rPr sz="2000" dirty="0">
                <a:latin typeface="Times New Roman"/>
                <a:cs typeface="Times New Roman"/>
              </a:rPr>
              <a:t>solution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empower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navigating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complexities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cryptocurrency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landscape.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5533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90"/>
              </a:spcBef>
            </a:pPr>
            <a:r>
              <a:rPr sz="2650" dirty="0">
                <a:latin typeface="Times New Roman"/>
                <a:cs typeface="Times New Roman"/>
              </a:rPr>
              <a:t>Process</a:t>
            </a:r>
            <a:r>
              <a:rPr sz="2650" spc="-9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flow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and</a:t>
            </a:r>
            <a:r>
              <a:rPr sz="2650" spc="-16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Architecture</a:t>
            </a:r>
            <a:endParaRPr sz="26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398" y="2193415"/>
            <a:ext cx="8242486" cy="29546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0827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90"/>
              </a:spcBef>
            </a:pPr>
            <a:r>
              <a:rPr sz="2650" dirty="0">
                <a:latin typeface="Times New Roman"/>
                <a:cs typeface="Times New Roman"/>
              </a:rPr>
              <a:t>Data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25" dirty="0">
                <a:latin typeface="Times New Roman"/>
                <a:cs typeface="Times New Roman"/>
              </a:rPr>
              <a:t>Set</a:t>
            </a:r>
            <a:endParaRPr sz="26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0995" y="2318004"/>
            <a:ext cx="7347203" cy="38938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934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135"/>
              </a:spcBef>
            </a:pPr>
            <a:r>
              <a:rPr dirty="0"/>
              <a:t>Data</a:t>
            </a:r>
            <a:r>
              <a:rPr spc="-155" dirty="0"/>
              <a:t> </a:t>
            </a:r>
            <a:r>
              <a:rPr spc="-25" dirty="0"/>
              <a:t>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7508" y="2558796"/>
            <a:ext cx="7264907" cy="35996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219" rIns="0" bIns="0" rtlCol="0">
            <a:spAutoFit/>
          </a:bodyPr>
          <a:lstStyle/>
          <a:p>
            <a:pPr marL="3432175">
              <a:lnSpc>
                <a:spcPct val="100000"/>
              </a:lnSpc>
              <a:spcBef>
                <a:spcPts val="100"/>
              </a:spcBef>
            </a:pPr>
            <a:r>
              <a:rPr sz="3300" b="1" spc="-10" dirty="0">
                <a:latin typeface="Times New Roman"/>
                <a:cs typeface="Times New Roman"/>
              </a:rPr>
              <a:t>Methodology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8852" y="2733547"/>
            <a:ext cx="4576445" cy="1837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5910" indent="-284480">
              <a:lnSpc>
                <a:spcPct val="100000"/>
              </a:lnSpc>
              <a:spcBef>
                <a:spcPts val="125"/>
              </a:spcBef>
              <a:buSzPct val="96610"/>
              <a:buAutoNum type="arabicPeriod"/>
              <a:tabLst>
                <a:tab pos="295910" algn="l"/>
              </a:tabLst>
            </a:pPr>
            <a:r>
              <a:rPr sz="2950" dirty="0">
                <a:latin typeface="Times New Roman"/>
                <a:cs typeface="Times New Roman"/>
              </a:rPr>
              <a:t>Data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Extraction</a:t>
            </a:r>
            <a:endParaRPr sz="2950">
              <a:latin typeface="Times New Roman"/>
              <a:cs typeface="Times New Roman"/>
            </a:endParaRPr>
          </a:p>
          <a:p>
            <a:pPr marL="295910" indent="-284480">
              <a:lnSpc>
                <a:spcPct val="100000"/>
              </a:lnSpc>
              <a:spcBef>
                <a:spcPts val="25"/>
              </a:spcBef>
              <a:buSzPct val="96610"/>
              <a:buAutoNum type="arabicPeriod"/>
              <a:tabLst>
                <a:tab pos="295910" algn="l"/>
              </a:tabLst>
            </a:pPr>
            <a:r>
              <a:rPr sz="2950" dirty="0">
                <a:latin typeface="Times New Roman"/>
                <a:cs typeface="Times New Roman"/>
              </a:rPr>
              <a:t>Data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Processing</a:t>
            </a:r>
            <a:endParaRPr sz="2950">
              <a:latin typeface="Times New Roman"/>
              <a:cs typeface="Times New Roman"/>
            </a:endParaRPr>
          </a:p>
          <a:p>
            <a:pPr marL="295910" indent="-284480">
              <a:lnSpc>
                <a:spcPct val="100000"/>
              </a:lnSpc>
              <a:spcBef>
                <a:spcPts val="20"/>
              </a:spcBef>
              <a:buSzPct val="96610"/>
              <a:buAutoNum type="arabicPeriod"/>
              <a:tabLst>
                <a:tab pos="295910" algn="l"/>
              </a:tabLst>
            </a:pPr>
            <a:r>
              <a:rPr sz="2950" dirty="0">
                <a:latin typeface="Times New Roman"/>
                <a:cs typeface="Times New Roman"/>
              </a:rPr>
              <a:t>Data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Visualization</a:t>
            </a:r>
            <a:endParaRPr sz="2950">
              <a:latin typeface="Times New Roman"/>
              <a:cs typeface="Times New Roman"/>
            </a:endParaRPr>
          </a:p>
          <a:p>
            <a:pPr marL="295910" indent="-284480">
              <a:lnSpc>
                <a:spcPct val="100000"/>
              </a:lnSpc>
              <a:spcBef>
                <a:spcPts val="25"/>
              </a:spcBef>
              <a:buSzPct val="96610"/>
              <a:buAutoNum type="arabicPeriod"/>
              <a:tabLst>
                <a:tab pos="295910" algn="l"/>
              </a:tabLst>
            </a:pPr>
            <a:r>
              <a:rPr sz="2950" dirty="0">
                <a:latin typeface="Times New Roman"/>
                <a:cs typeface="Times New Roman"/>
              </a:rPr>
              <a:t>User</a:t>
            </a:r>
            <a:r>
              <a:rPr sz="2950" spc="-2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Interface</a:t>
            </a:r>
            <a:r>
              <a:rPr sz="2950" spc="-2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&amp;</a:t>
            </a:r>
            <a:r>
              <a:rPr sz="2950" spc="2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Interaction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109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135"/>
              </a:spcBef>
            </a:pPr>
            <a:r>
              <a:rPr spc="-10" dirty="0">
                <a:latin typeface="Times New Roman"/>
                <a:cs typeface="Times New Roman"/>
              </a:rPr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31" y="2165094"/>
            <a:ext cx="8484870" cy="3329758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55600" marR="5080" indent="-342900">
              <a:lnSpc>
                <a:spcPts val="2140"/>
              </a:lnSpc>
              <a:spcBef>
                <a:spcPts val="365"/>
              </a:spcBef>
              <a:buFont typeface="Wingdings" panose="05000000000000000000" pitchFamily="2" charset="2"/>
              <a:buChar char="Ø"/>
            </a:pPr>
            <a:r>
              <a:rPr sz="1950" dirty="0">
                <a:latin typeface="Times New Roman"/>
                <a:cs typeface="Times New Roman"/>
              </a:rPr>
              <a:t>The</a:t>
            </a:r>
            <a:r>
              <a:rPr sz="1950" spc="2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implementation</a:t>
            </a:r>
            <a:r>
              <a:rPr sz="1950" spc="8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of</a:t>
            </a:r>
            <a:r>
              <a:rPr sz="1950" spc="3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the</a:t>
            </a:r>
            <a:r>
              <a:rPr sz="1950" spc="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cryptocurrency</a:t>
            </a:r>
            <a:r>
              <a:rPr sz="1950" spc="3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market</a:t>
            </a:r>
            <a:r>
              <a:rPr sz="1950" spc="6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visualization</a:t>
            </a:r>
            <a:r>
              <a:rPr sz="1950" spc="6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web</a:t>
            </a:r>
            <a:r>
              <a:rPr sz="1950" spc="3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application </a:t>
            </a:r>
            <a:r>
              <a:rPr sz="1950" dirty="0">
                <a:latin typeface="Times New Roman"/>
                <a:cs typeface="Times New Roman"/>
              </a:rPr>
              <a:t>involves</a:t>
            </a:r>
            <a:r>
              <a:rPr sz="1950" spc="3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five</a:t>
            </a:r>
            <a:r>
              <a:rPr sz="1950" spc="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main</a:t>
            </a:r>
            <a:r>
              <a:rPr sz="1950" spc="10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stages:</a:t>
            </a:r>
            <a:r>
              <a:rPr sz="1950" spc="4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data</a:t>
            </a:r>
            <a:r>
              <a:rPr sz="1950" spc="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extraction,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data</a:t>
            </a:r>
            <a:r>
              <a:rPr sz="1950" spc="3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processing,</a:t>
            </a:r>
            <a:r>
              <a:rPr sz="1950" spc="4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data</a:t>
            </a:r>
            <a:r>
              <a:rPr sz="1950" spc="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visualization,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spc="-20" dirty="0">
                <a:latin typeface="Times New Roman"/>
                <a:cs typeface="Times New Roman"/>
              </a:rPr>
              <a:t>user </a:t>
            </a:r>
            <a:r>
              <a:rPr sz="1950" dirty="0">
                <a:latin typeface="Times New Roman"/>
                <a:cs typeface="Times New Roman"/>
              </a:rPr>
              <a:t>interface</a:t>
            </a:r>
            <a:r>
              <a:rPr sz="1950" spc="4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design,</a:t>
            </a:r>
            <a:r>
              <a:rPr sz="1950" spc="2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and</a:t>
            </a:r>
            <a:r>
              <a:rPr sz="1950" spc="5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cloud</a:t>
            </a:r>
            <a:r>
              <a:rPr sz="1950" spc="2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deployment.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endParaRPr lang="en-US" sz="1950" spc="1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140"/>
              </a:lnSpc>
              <a:spcBef>
                <a:spcPts val="365"/>
              </a:spcBef>
              <a:buFont typeface="Wingdings" panose="05000000000000000000" pitchFamily="2" charset="2"/>
              <a:buChar char="Ø"/>
            </a:pPr>
            <a:r>
              <a:rPr sz="1950" dirty="0">
                <a:latin typeface="Times New Roman"/>
                <a:cs typeface="Times New Roman"/>
              </a:rPr>
              <a:t>The</a:t>
            </a:r>
            <a:r>
              <a:rPr sz="1950" spc="4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entire</a:t>
            </a:r>
            <a:r>
              <a:rPr sz="1950" spc="4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system</a:t>
            </a:r>
            <a:r>
              <a:rPr sz="1950" spc="8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is</a:t>
            </a:r>
            <a:r>
              <a:rPr sz="1950" spc="2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built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using</a:t>
            </a:r>
            <a:r>
              <a:rPr sz="1950" spc="3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Streamlit, </a:t>
            </a:r>
            <a:r>
              <a:rPr sz="1950" dirty="0">
                <a:latin typeface="Times New Roman"/>
                <a:cs typeface="Times New Roman"/>
              </a:rPr>
              <a:t>Python,</a:t>
            </a:r>
            <a:r>
              <a:rPr sz="1950" spc="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and</a:t>
            </a:r>
            <a:r>
              <a:rPr sz="1950" spc="5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various</a:t>
            </a:r>
            <a:r>
              <a:rPr sz="1950" spc="5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libraries</a:t>
            </a:r>
            <a:r>
              <a:rPr sz="1950" spc="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like</a:t>
            </a:r>
            <a:r>
              <a:rPr sz="1950" spc="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Pandas,</a:t>
            </a:r>
            <a:r>
              <a:rPr sz="1950" spc="7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Matplotlib,</a:t>
            </a:r>
            <a:r>
              <a:rPr sz="1950" spc="3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Seaborn,</a:t>
            </a:r>
            <a:r>
              <a:rPr sz="1950" spc="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BeautifulSoup</a:t>
            </a:r>
            <a:r>
              <a:rPr sz="1950" spc="5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(bs4), </a:t>
            </a:r>
            <a:r>
              <a:rPr sz="1950" dirty="0">
                <a:latin typeface="Times New Roman"/>
                <a:cs typeface="Times New Roman"/>
              </a:rPr>
              <a:t>and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cryptocmd.</a:t>
            </a:r>
            <a:endParaRPr sz="1950" dirty="0">
              <a:latin typeface="Times New Roman"/>
              <a:cs typeface="Times New Roman"/>
            </a:endParaRPr>
          </a:p>
          <a:p>
            <a:pPr marL="201295" indent="-189230">
              <a:lnSpc>
                <a:spcPct val="100000"/>
              </a:lnSpc>
              <a:spcBef>
                <a:spcPts val="570"/>
              </a:spcBef>
              <a:buSzPct val="94871"/>
              <a:buAutoNum type="arabicPeriod"/>
              <a:tabLst>
                <a:tab pos="201295" algn="l"/>
              </a:tabLst>
            </a:pPr>
            <a:r>
              <a:rPr sz="1950" dirty="0">
                <a:latin typeface="Times New Roman"/>
                <a:cs typeface="Times New Roman"/>
              </a:rPr>
              <a:t>Data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Extraction</a:t>
            </a:r>
            <a:endParaRPr sz="1950" dirty="0">
              <a:latin typeface="Times New Roman"/>
              <a:cs typeface="Times New Roman"/>
            </a:endParaRPr>
          </a:p>
          <a:p>
            <a:pPr marL="201295" indent="-189230">
              <a:lnSpc>
                <a:spcPct val="100000"/>
              </a:lnSpc>
              <a:spcBef>
                <a:spcPts val="625"/>
              </a:spcBef>
              <a:buSzPct val="94871"/>
              <a:buAutoNum type="arabicPeriod"/>
              <a:tabLst>
                <a:tab pos="201295" algn="l"/>
              </a:tabLst>
            </a:pPr>
            <a:r>
              <a:rPr sz="1950" dirty="0">
                <a:latin typeface="Times New Roman"/>
                <a:cs typeface="Times New Roman"/>
              </a:rPr>
              <a:t>Data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Processing</a:t>
            </a:r>
            <a:endParaRPr sz="1950" dirty="0">
              <a:latin typeface="Times New Roman"/>
              <a:cs typeface="Times New Roman"/>
            </a:endParaRPr>
          </a:p>
          <a:p>
            <a:pPr marL="201295" indent="-189230">
              <a:lnSpc>
                <a:spcPct val="100000"/>
              </a:lnSpc>
              <a:spcBef>
                <a:spcPts val="625"/>
              </a:spcBef>
              <a:buSzPct val="94871"/>
              <a:buAutoNum type="arabicPeriod"/>
              <a:tabLst>
                <a:tab pos="201295" algn="l"/>
              </a:tabLst>
            </a:pPr>
            <a:r>
              <a:rPr sz="1950" dirty="0">
                <a:latin typeface="Times New Roman"/>
                <a:cs typeface="Times New Roman"/>
              </a:rPr>
              <a:t>Data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Visualization</a:t>
            </a:r>
            <a:endParaRPr sz="1950" dirty="0">
              <a:latin typeface="Times New Roman"/>
              <a:cs typeface="Times New Roman"/>
            </a:endParaRPr>
          </a:p>
          <a:p>
            <a:pPr marL="201295" indent="-189230">
              <a:lnSpc>
                <a:spcPct val="100000"/>
              </a:lnSpc>
              <a:spcBef>
                <a:spcPts val="625"/>
              </a:spcBef>
              <a:buSzPct val="94871"/>
              <a:buAutoNum type="arabicPeriod"/>
              <a:tabLst>
                <a:tab pos="201295" algn="l"/>
              </a:tabLst>
            </a:pPr>
            <a:r>
              <a:rPr sz="1950" dirty="0">
                <a:latin typeface="Times New Roman"/>
                <a:cs typeface="Times New Roman"/>
              </a:rPr>
              <a:t>User</a:t>
            </a:r>
            <a:r>
              <a:rPr sz="1950" spc="4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Interface</a:t>
            </a:r>
            <a:r>
              <a:rPr sz="1950" spc="2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&amp;</a:t>
            </a:r>
            <a:r>
              <a:rPr sz="1950" spc="4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Interaction</a:t>
            </a:r>
            <a:endParaRPr sz="1950" dirty="0">
              <a:latin typeface="Times New Roman"/>
              <a:cs typeface="Times New Roman"/>
            </a:endParaRPr>
          </a:p>
          <a:p>
            <a:pPr marL="201295" indent="-189230">
              <a:lnSpc>
                <a:spcPct val="100000"/>
              </a:lnSpc>
              <a:spcBef>
                <a:spcPts val="620"/>
              </a:spcBef>
              <a:buSzPct val="94871"/>
              <a:buAutoNum type="arabicPeriod"/>
              <a:tabLst>
                <a:tab pos="201295" algn="l"/>
              </a:tabLst>
            </a:pPr>
            <a:r>
              <a:rPr sz="1950" dirty="0">
                <a:latin typeface="Times New Roman"/>
                <a:cs typeface="Times New Roman"/>
              </a:rPr>
              <a:t>Cloud</a:t>
            </a:r>
            <a:r>
              <a:rPr sz="1950" spc="4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Deployment</a:t>
            </a:r>
            <a:endParaRPr sz="19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8632" y="1351193"/>
            <a:ext cx="330898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1.</a:t>
            </a:r>
            <a:r>
              <a:rPr spc="-90" dirty="0"/>
              <a:t> </a:t>
            </a:r>
            <a:r>
              <a:rPr dirty="0"/>
              <a:t>Data</a:t>
            </a:r>
            <a:r>
              <a:rPr spc="-85" dirty="0"/>
              <a:t> </a:t>
            </a:r>
            <a:r>
              <a:rPr spc="-10" dirty="0"/>
              <a:t>Extraction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36" y="1911589"/>
            <a:ext cx="7982584" cy="434911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300" spc="-25" dirty="0">
                <a:latin typeface="Calibri"/>
                <a:cs typeface="Calibri"/>
              </a:rPr>
              <a:t>Tools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Used: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requests,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BeautifulSoup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(bs4),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cryptocmd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300" spc="-10" dirty="0">
                <a:latin typeface="Calibri"/>
                <a:cs typeface="Calibri"/>
              </a:rPr>
              <a:t>Real-</a:t>
            </a:r>
            <a:r>
              <a:rPr sz="2300" dirty="0">
                <a:latin typeface="Calibri"/>
                <a:cs typeface="Calibri"/>
              </a:rPr>
              <a:t>time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data: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Extracted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from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CoinMarketCap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using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web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scraping.</a:t>
            </a:r>
            <a:endParaRPr sz="2300">
              <a:latin typeface="Calibri"/>
              <a:cs typeface="Calibri"/>
            </a:endParaRPr>
          </a:p>
          <a:p>
            <a:pPr marL="12700" marR="17145">
              <a:lnSpc>
                <a:spcPts val="2500"/>
              </a:lnSpc>
              <a:spcBef>
                <a:spcPts val="855"/>
              </a:spcBef>
            </a:pPr>
            <a:r>
              <a:rPr sz="2300" dirty="0">
                <a:latin typeface="Calibri"/>
                <a:cs typeface="Calibri"/>
              </a:rPr>
              <a:t>Historical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data: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Fetched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using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cryptocmd,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which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retrieves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historical </a:t>
            </a:r>
            <a:r>
              <a:rPr sz="2300" dirty="0">
                <a:latin typeface="Calibri"/>
                <a:cs typeface="Calibri"/>
              </a:rPr>
              <a:t>cryptocurrency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price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data.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300" spc="-10" dirty="0">
                <a:latin typeface="Calibri"/>
                <a:cs typeface="Calibri"/>
              </a:rPr>
              <a:t>Process: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300" dirty="0">
                <a:latin typeface="Calibri"/>
                <a:cs typeface="Calibri"/>
              </a:rPr>
              <a:t>Send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HTTP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request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CoinMarketCap.</a:t>
            </a:r>
            <a:endParaRPr sz="2300">
              <a:latin typeface="Calibri"/>
              <a:cs typeface="Calibri"/>
            </a:endParaRPr>
          </a:p>
          <a:p>
            <a:pPr marL="12700" marR="250825">
              <a:lnSpc>
                <a:spcPts val="2500"/>
              </a:lnSpc>
              <a:spcBef>
                <a:spcPts val="850"/>
              </a:spcBef>
            </a:pPr>
            <a:r>
              <a:rPr sz="2300" dirty="0">
                <a:latin typeface="Calibri"/>
                <a:cs typeface="Calibri"/>
              </a:rPr>
              <a:t>Parse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HTML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response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using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BeautifulSoup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extract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relevant </a:t>
            </a:r>
            <a:r>
              <a:rPr sz="2300" dirty="0">
                <a:latin typeface="Calibri"/>
                <a:cs typeface="Calibri"/>
              </a:rPr>
              <a:t>details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(prices,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market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capitalization,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volume).</a:t>
            </a:r>
            <a:endParaRPr sz="2300">
              <a:latin typeface="Calibri"/>
              <a:cs typeface="Calibri"/>
            </a:endParaRPr>
          </a:p>
          <a:p>
            <a:pPr marL="12700" marR="29209">
              <a:lnSpc>
                <a:spcPts val="2500"/>
              </a:lnSpc>
              <a:spcBef>
                <a:spcPts val="819"/>
              </a:spcBef>
            </a:pPr>
            <a:r>
              <a:rPr sz="2300" dirty="0">
                <a:latin typeface="Calibri"/>
                <a:cs typeface="Calibri"/>
              </a:rPr>
              <a:t>Convert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extracted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into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structured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Pandas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DataFrame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for </a:t>
            </a:r>
            <a:r>
              <a:rPr sz="2300" dirty="0">
                <a:latin typeface="Calibri"/>
                <a:cs typeface="Calibri"/>
              </a:rPr>
              <a:t>further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processing.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300" spc="-10" dirty="0">
                <a:latin typeface="Calibri"/>
                <a:cs typeface="Calibri"/>
              </a:rPr>
              <a:t>CoinMarketCap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website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url: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https://coinmarketcap.com/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581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135"/>
              </a:spcBef>
            </a:pPr>
            <a:r>
              <a:rPr dirty="0"/>
              <a:t>2.Data</a:t>
            </a:r>
            <a:r>
              <a:rPr spc="-195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36" y="2353504"/>
            <a:ext cx="6032500" cy="2134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737610">
              <a:lnSpc>
                <a:spcPct val="120400"/>
              </a:lnSpc>
              <a:spcBef>
                <a:spcPts val="95"/>
              </a:spcBef>
            </a:pPr>
            <a:r>
              <a:rPr sz="2300" spc="-25" dirty="0">
                <a:latin typeface="Calibri"/>
                <a:cs typeface="Calibri"/>
              </a:rPr>
              <a:t>Tools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Used: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Pandas </a:t>
            </a:r>
            <a:r>
              <a:rPr sz="2300" dirty="0">
                <a:latin typeface="Calibri"/>
                <a:cs typeface="Calibri"/>
              </a:rPr>
              <a:t>Cleaning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Data:</a:t>
            </a:r>
            <a:endParaRPr sz="2300">
              <a:latin typeface="Calibri"/>
              <a:cs typeface="Calibri"/>
            </a:endParaRPr>
          </a:p>
          <a:p>
            <a:pPr marL="12700" marR="5080">
              <a:lnSpc>
                <a:spcPts val="3320"/>
              </a:lnSpc>
              <a:spcBef>
                <a:spcPts val="195"/>
              </a:spcBef>
            </a:pPr>
            <a:r>
              <a:rPr sz="2300" dirty="0">
                <a:latin typeface="Calibri"/>
                <a:cs typeface="Calibri"/>
              </a:rPr>
              <a:t>Remove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unnecessary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characters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from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price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values. </a:t>
            </a:r>
            <a:r>
              <a:rPr sz="2300" dirty="0">
                <a:latin typeface="Calibri"/>
                <a:cs typeface="Calibri"/>
              </a:rPr>
              <a:t>Convert</a:t>
            </a:r>
            <a:r>
              <a:rPr sz="2300" spc="-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numerical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data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types.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300" dirty="0">
                <a:latin typeface="Calibri"/>
                <a:cs typeface="Calibri"/>
              </a:rPr>
              <a:t>Handle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missing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or</a:t>
            </a:r>
            <a:r>
              <a:rPr sz="2300" spc="-10" dirty="0">
                <a:latin typeface="Calibri"/>
                <a:cs typeface="Calibri"/>
              </a:rPr>
              <a:t> inconsistent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data.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3650615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3.Data</a:t>
            </a:r>
            <a:r>
              <a:rPr spc="-195" dirty="0"/>
              <a:t> </a:t>
            </a:r>
            <a:r>
              <a:rPr spc="-10" dirty="0"/>
              <a:t>Visualization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pc="-25" dirty="0"/>
              <a:t>Tools</a:t>
            </a:r>
            <a:r>
              <a:rPr spc="-60" dirty="0"/>
              <a:t> </a:t>
            </a:r>
            <a:r>
              <a:rPr dirty="0"/>
              <a:t>Used:</a:t>
            </a:r>
            <a:r>
              <a:rPr spc="-45" dirty="0"/>
              <a:t> </a:t>
            </a:r>
            <a:r>
              <a:rPr dirty="0"/>
              <a:t>Matplotlib,</a:t>
            </a:r>
            <a:r>
              <a:rPr spc="-50" dirty="0"/>
              <a:t> </a:t>
            </a:r>
            <a:r>
              <a:rPr dirty="0"/>
              <a:t>Seaborn,</a:t>
            </a:r>
            <a:r>
              <a:rPr spc="-50" dirty="0"/>
              <a:t> </a:t>
            </a:r>
            <a:r>
              <a:rPr spc="-10" dirty="0"/>
              <a:t>Streamlit</a:t>
            </a: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/>
              <a:t>Line</a:t>
            </a:r>
            <a:r>
              <a:rPr spc="-55" dirty="0"/>
              <a:t> </a:t>
            </a:r>
            <a:r>
              <a:rPr dirty="0"/>
              <a:t>Charts:</a:t>
            </a:r>
            <a:r>
              <a:rPr spc="-50" dirty="0"/>
              <a:t> </a:t>
            </a:r>
            <a:r>
              <a:rPr spc="-25" dirty="0"/>
              <a:t>Track</a:t>
            </a:r>
            <a:r>
              <a:rPr spc="-45" dirty="0"/>
              <a:t> </a:t>
            </a:r>
            <a:r>
              <a:rPr dirty="0"/>
              <a:t>cryptocurrency</a:t>
            </a:r>
            <a:r>
              <a:rPr spc="-40" dirty="0"/>
              <a:t> </a:t>
            </a:r>
            <a:r>
              <a:rPr dirty="0"/>
              <a:t>price</a:t>
            </a:r>
            <a:r>
              <a:rPr spc="-50" dirty="0"/>
              <a:t> </a:t>
            </a:r>
            <a:r>
              <a:rPr dirty="0"/>
              <a:t>trends</a:t>
            </a:r>
            <a:r>
              <a:rPr spc="-20" dirty="0"/>
              <a:t> </a:t>
            </a:r>
            <a:r>
              <a:rPr dirty="0"/>
              <a:t>over</a:t>
            </a:r>
            <a:r>
              <a:rPr spc="-75" dirty="0"/>
              <a:t> </a:t>
            </a:r>
            <a:r>
              <a:rPr spc="-10" dirty="0"/>
              <a:t>time.</a:t>
            </a:r>
          </a:p>
          <a:p>
            <a:pPr marL="12700" marR="5080">
              <a:lnSpc>
                <a:spcPts val="3320"/>
              </a:lnSpc>
              <a:spcBef>
                <a:spcPts val="105"/>
              </a:spcBef>
            </a:pPr>
            <a:r>
              <a:rPr dirty="0"/>
              <a:t>Bar</a:t>
            </a:r>
            <a:r>
              <a:rPr spc="-30" dirty="0"/>
              <a:t> </a:t>
            </a:r>
            <a:r>
              <a:rPr dirty="0"/>
              <a:t>Charts:</a:t>
            </a:r>
            <a:r>
              <a:rPr spc="-45" dirty="0"/>
              <a:t> </a:t>
            </a:r>
            <a:r>
              <a:rPr dirty="0"/>
              <a:t>Compare</a:t>
            </a:r>
            <a:r>
              <a:rPr spc="-70" dirty="0"/>
              <a:t> </a:t>
            </a:r>
            <a:r>
              <a:rPr dirty="0"/>
              <a:t>market</a:t>
            </a:r>
            <a:r>
              <a:rPr spc="-60" dirty="0"/>
              <a:t> </a:t>
            </a:r>
            <a:r>
              <a:rPr spc="-10" dirty="0"/>
              <a:t>capitalization</a:t>
            </a:r>
            <a:r>
              <a:rPr spc="-6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trading</a:t>
            </a:r>
            <a:r>
              <a:rPr spc="-30" dirty="0"/>
              <a:t> </a:t>
            </a:r>
            <a:r>
              <a:rPr spc="-10" dirty="0"/>
              <a:t>volume. </a:t>
            </a:r>
            <a:r>
              <a:rPr dirty="0"/>
              <a:t>Heatmaps:</a:t>
            </a:r>
            <a:r>
              <a:rPr spc="-60" dirty="0"/>
              <a:t> </a:t>
            </a:r>
            <a:r>
              <a:rPr dirty="0"/>
              <a:t>Show</a:t>
            </a:r>
            <a:r>
              <a:rPr spc="-90" dirty="0"/>
              <a:t> </a:t>
            </a:r>
            <a:r>
              <a:rPr dirty="0"/>
              <a:t>correlations</a:t>
            </a:r>
            <a:r>
              <a:rPr spc="-80" dirty="0"/>
              <a:t> </a:t>
            </a:r>
            <a:r>
              <a:rPr dirty="0"/>
              <a:t>between</a:t>
            </a:r>
            <a:r>
              <a:rPr spc="-70" dirty="0"/>
              <a:t> </a:t>
            </a:r>
            <a:r>
              <a:rPr spc="-10" dirty="0"/>
              <a:t>different</a:t>
            </a:r>
            <a:r>
              <a:rPr spc="-70" dirty="0"/>
              <a:t> </a:t>
            </a:r>
            <a:r>
              <a:rPr spc="-10" dirty="0"/>
              <a:t>cryptocurrencies. </a:t>
            </a:r>
            <a:r>
              <a:rPr dirty="0"/>
              <a:t>Candlestick</a:t>
            </a:r>
            <a:r>
              <a:rPr spc="-100" dirty="0"/>
              <a:t> </a:t>
            </a:r>
            <a:r>
              <a:rPr dirty="0"/>
              <a:t>Charts:</a:t>
            </a:r>
            <a:r>
              <a:rPr spc="-75" dirty="0"/>
              <a:t> </a:t>
            </a:r>
            <a:r>
              <a:rPr dirty="0"/>
              <a:t>Represent</a:t>
            </a:r>
            <a:r>
              <a:rPr spc="-75" dirty="0"/>
              <a:t> </a:t>
            </a:r>
            <a:r>
              <a:rPr dirty="0"/>
              <a:t>market</a:t>
            </a:r>
            <a:r>
              <a:rPr spc="-95" dirty="0"/>
              <a:t> </a:t>
            </a:r>
            <a:r>
              <a:rPr spc="-10" dirty="0"/>
              <a:t>fluctuations.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581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135"/>
              </a:spcBef>
            </a:pPr>
            <a:r>
              <a:rPr dirty="0"/>
              <a:t>4.User</a:t>
            </a:r>
            <a:r>
              <a:rPr spc="-65" dirty="0"/>
              <a:t> </a:t>
            </a:r>
            <a:r>
              <a:rPr spc="-20" dirty="0"/>
              <a:t>Interface</a:t>
            </a:r>
            <a:r>
              <a:rPr spc="-95" dirty="0"/>
              <a:t> </a:t>
            </a:r>
            <a:r>
              <a:rPr dirty="0"/>
              <a:t>&amp;</a:t>
            </a:r>
            <a:r>
              <a:rPr spc="-50" dirty="0"/>
              <a:t> </a:t>
            </a:r>
            <a:r>
              <a:rPr spc="-10" dirty="0"/>
              <a:t>Interaction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36" y="2464808"/>
            <a:ext cx="5758815" cy="2134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489200">
              <a:lnSpc>
                <a:spcPct val="120400"/>
              </a:lnSpc>
              <a:spcBef>
                <a:spcPts val="95"/>
              </a:spcBef>
            </a:pPr>
            <a:r>
              <a:rPr sz="2300" spc="-10" dirty="0">
                <a:latin typeface="Calibri"/>
                <a:cs typeface="Calibri"/>
              </a:rPr>
              <a:t>Framework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Used:</a:t>
            </a:r>
            <a:r>
              <a:rPr sz="2300" spc="-10" dirty="0">
                <a:latin typeface="Calibri"/>
                <a:cs typeface="Calibri"/>
              </a:rPr>
              <a:t> Streamlit Interactive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Widgets:</a:t>
            </a:r>
            <a:endParaRPr sz="2300">
              <a:latin typeface="Calibri"/>
              <a:cs typeface="Calibri"/>
            </a:endParaRPr>
          </a:p>
          <a:p>
            <a:pPr marL="12700" marR="5080">
              <a:lnSpc>
                <a:spcPts val="3320"/>
              </a:lnSpc>
              <a:spcBef>
                <a:spcPts val="195"/>
              </a:spcBef>
            </a:pPr>
            <a:r>
              <a:rPr sz="2300" dirty="0">
                <a:latin typeface="Calibri"/>
                <a:cs typeface="Calibri"/>
              </a:rPr>
              <a:t>Dropdowns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sliders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allow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users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filter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data. Real-</a:t>
            </a:r>
            <a:r>
              <a:rPr sz="2300" dirty="0">
                <a:latin typeface="Calibri"/>
                <a:cs typeface="Calibri"/>
              </a:rPr>
              <a:t>time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Visualization: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300" dirty="0">
                <a:latin typeface="Calibri"/>
                <a:cs typeface="Calibri"/>
              </a:rPr>
              <a:t>Dynamic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charts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update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based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user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input.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581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135"/>
              </a:spcBef>
            </a:pPr>
            <a:r>
              <a:rPr dirty="0"/>
              <a:t>5.Cloud</a:t>
            </a:r>
            <a:r>
              <a:rPr spc="-150" dirty="0"/>
              <a:t> </a:t>
            </a:r>
            <a:r>
              <a:rPr spc="-10" dirty="0"/>
              <a:t>Deployment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36" y="2353504"/>
            <a:ext cx="6491605" cy="171259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300" dirty="0">
                <a:latin typeface="Calibri"/>
                <a:cs typeface="Calibri"/>
              </a:rPr>
              <a:t>Platform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Used: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300" dirty="0">
                <a:latin typeface="Calibri"/>
                <a:cs typeface="Calibri"/>
              </a:rPr>
              <a:t>Google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Cloud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Shell</a:t>
            </a:r>
            <a:endParaRPr sz="2300">
              <a:latin typeface="Calibri"/>
              <a:cs typeface="Calibri"/>
            </a:endParaRPr>
          </a:p>
          <a:p>
            <a:pPr marL="12700" marR="5080">
              <a:lnSpc>
                <a:spcPts val="3320"/>
              </a:lnSpc>
              <a:spcBef>
                <a:spcPts val="100"/>
              </a:spcBef>
            </a:pPr>
            <a:r>
              <a:rPr sz="2300" dirty="0">
                <a:latin typeface="Calibri"/>
                <a:cs typeface="Calibri"/>
              </a:rPr>
              <a:t>Application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hosted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Google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Cloud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accessibility. </a:t>
            </a:r>
            <a:r>
              <a:rPr sz="2300" dirty="0">
                <a:latin typeface="Calibri"/>
                <a:cs typeface="Calibri"/>
              </a:rPr>
              <a:t>No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local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setup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required;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runs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directly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cloud.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581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135"/>
              </a:spcBef>
            </a:pPr>
            <a:r>
              <a:rPr dirty="0"/>
              <a:t>Deployment</a:t>
            </a:r>
            <a:r>
              <a:rPr spc="-175" dirty="0"/>
              <a:t> </a:t>
            </a:r>
            <a:r>
              <a:rPr spc="-10" dirty="0"/>
              <a:t>steps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36" y="2403220"/>
            <a:ext cx="7977505" cy="256349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234950" indent="-223520">
              <a:lnSpc>
                <a:spcPct val="100000"/>
              </a:lnSpc>
              <a:spcBef>
                <a:spcPts val="1145"/>
              </a:spcBef>
              <a:buSzPct val="95652"/>
              <a:buAutoNum type="arabicPeriod"/>
              <a:tabLst>
                <a:tab pos="234950" algn="l"/>
              </a:tabLst>
            </a:pPr>
            <a:r>
              <a:rPr sz="2300" dirty="0">
                <a:latin typeface="Calibri"/>
                <a:cs typeface="Calibri"/>
              </a:rPr>
              <a:t>Install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Streamlit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other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libraries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Google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Cloud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Shell:</a:t>
            </a:r>
            <a:endParaRPr sz="2300">
              <a:latin typeface="Calibri"/>
              <a:cs typeface="Calibri"/>
            </a:endParaRPr>
          </a:p>
          <a:p>
            <a:pPr marL="575945">
              <a:lnSpc>
                <a:spcPct val="100000"/>
              </a:lnSpc>
              <a:spcBef>
                <a:spcPts val="910"/>
              </a:spcBef>
            </a:pPr>
            <a:r>
              <a:rPr sz="1950" dirty="0">
                <a:latin typeface="Calibri"/>
                <a:cs typeface="Calibri"/>
              </a:rPr>
              <a:t>pipenv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install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streamlit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pandas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matplotlib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seaborn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bs4</a:t>
            </a:r>
            <a:r>
              <a:rPr sz="1950" spc="48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cryptocmd</a:t>
            </a:r>
            <a:endParaRPr sz="1950">
              <a:latin typeface="Calibri"/>
              <a:cs typeface="Calibri"/>
            </a:endParaRPr>
          </a:p>
          <a:p>
            <a:pPr marL="303530" indent="-290830">
              <a:lnSpc>
                <a:spcPct val="100000"/>
              </a:lnSpc>
              <a:spcBef>
                <a:spcPts val="625"/>
              </a:spcBef>
              <a:buSzPct val="95652"/>
              <a:buAutoNum type="arabicPeriod" startAt="2"/>
              <a:tabLst>
                <a:tab pos="303530" algn="l"/>
              </a:tabLst>
            </a:pPr>
            <a:r>
              <a:rPr sz="2300" dirty="0">
                <a:latin typeface="Calibri"/>
                <a:cs typeface="Calibri"/>
              </a:rPr>
              <a:t>Run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application:</a:t>
            </a:r>
            <a:endParaRPr sz="2300">
              <a:latin typeface="Calibri"/>
              <a:cs typeface="Calibri"/>
            </a:endParaRPr>
          </a:p>
          <a:p>
            <a:pPr marL="547370">
              <a:lnSpc>
                <a:spcPct val="100000"/>
              </a:lnSpc>
              <a:spcBef>
                <a:spcPts val="1215"/>
              </a:spcBef>
            </a:pPr>
            <a:r>
              <a:rPr sz="1650" dirty="0">
                <a:latin typeface="Calibri"/>
                <a:cs typeface="Calibri"/>
              </a:rPr>
              <a:t>streamlit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run</a:t>
            </a:r>
            <a:r>
              <a:rPr sz="1650" spc="-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appname.py</a:t>
            </a:r>
            <a:r>
              <a:rPr sz="1650" spc="-7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-</a:t>
            </a:r>
            <a:r>
              <a:rPr sz="1650" spc="-10" dirty="0">
                <a:latin typeface="Calibri"/>
                <a:cs typeface="Calibri"/>
              </a:rPr>
              <a:t>-</a:t>
            </a:r>
            <a:r>
              <a:rPr sz="1650" spc="-20" dirty="0">
                <a:latin typeface="Calibri"/>
                <a:cs typeface="Calibri"/>
              </a:rPr>
              <a:t>server.port</a:t>
            </a:r>
            <a:r>
              <a:rPr sz="1650" spc="-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8080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-</a:t>
            </a:r>
            <a:r>
              <a:rPr sz="1650" dirty="0">
                <a:latin typeface="Calibri"/>
                <a:cs typeface="Calibri"/>
              </a:rPr>
              <a:t>-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browser.serverAddress</a:t>
            </a:r>
            <a:r>
              <a:rPr sz="1650" spc="29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[server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address]</a:t>
            </a:r>
            <a:endParaRPr sz="1650">
              <a:latin typeface="Calibri"/>
              <a:cs typeface="Calibri"/>
            </a:endParaRPr>
          </a:p>
          <a:p>
            <a:pPr marL="766445" marR="530860">
              <a:lnSpc>
                <a:spcPct val="90000"/>
              </a:lnSpc>
              <a:spcBef>
                <a:spcPts val="1000"/>
              </a:spcBef>
            </a:pPr>
            <a:r>
              <a:rPr sz="1650" dirty="0">
                <a:latin typeface="Calibri"/>
                <a:cs typeface="Calibri"/>
              </a:rPr>
              <a:t>(streamlit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run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crypto_price_app.py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-</a:t>
            </a:r>
            <a:r>
              <a:rPr sz="1650" spc="-10" dirty="0">
                <a:latin typeface="Calibri"/>
                <a:cs typeface="Calibri"/>
              </a:rPr>
              <a:t>-</a:t>
            </a:r>
            <a:r>
              <a:rPr sz="1650" spc="-20" dirty="0">
                <a:latin typeface="Calibri"/>
                <a:cs typeface="Calibri"/>
              </a:rPr>
              <a:t>server.port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8080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-</a:t>
            </a:r>
            <a:r>
              <a:rPr sz="1650" spc="-10" dirty="0">
                <a:latin typeface="Calibri"/>
                <a:cs typeface="Calibri"/>
              </a:rPr>
              <a:t>-browser.serverAddress </a:t>
            </a:r>
            <a:r>
              <a:rPr sz="165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https://8080-cs-507449746201-default.cs-asia-southeast1-</a:t>
            </a:r>
            <a:r>
              <a:rPr sz="1650" spc="-10" dirty="0">
                <a:solidFill>
                  <a:srgbClr val="0562C1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ajrg.cloudshell.dev/?authuser=0&amp;redirectedPreviously=true)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8576" y="1559983"/>
            <a:ext cx="3977004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90" dirty="0">
                <a:latin typeface="Calibri"/>
                <a:cs typeface="Calibri"/>
              </a:rPr>
              <a:t>Execution</a:t>
            </a:r>
            <a:r>
              <a:rPr b="1" spc="-95" dirty="0">
                <a:latin typeface="Calibri"/>
                <a:cs typeface="Calibri"/>
              </a:rPr>
              <a:t> </a:t>
            </a:r>
            <a:r>
              <a:rPr b="1" spc="-55" dirty="0">
                <a:latin typeface="Calibri"/>
                <a:cs typeface="Calibri"/>
              </a:rPr>
              <a:t>and</a:t>
            </a:r>
            <a:r>
              <a:rPr b="1" spc="-95" dirty="0">
                <a:latin typeface="Calibri"/>
                <a:cs typeface="Calibri"/>
              </a:rPr>
              <a:t> </a:t>
            </a:r>
            <a:r>
              <a:rPr b="1" spc="-65" dirty="0">
                <a:latin typeface="Calibri"/>
                <a:cs typeface="Calibri"/>
              </a:rPr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791" y="2446019"/>
            <a:ext cx="4309872" cy="19461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3944" y="4479035"/>
            <a:ext cx="4779263" cy="19415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934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135"/>
              </a:spcBef>
            </a:pPr>
            <a:r>
              <a:rPr b="1" spc="-85" dirty="0">
                <a:latin typeface="Calibri"/>
                <a:cs typeface="Calibri"/>
              </a:rPr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4" y="2683764"/>
            <a:ext cx="3956303" cy="24063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076" y="2833116"/>
            <a:ext cx="4283963" cy="210769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121150">
              <a:lnSpc>
                <a:spcPct val="100000"/>
              </a:lnSpc>
              <a:spcBef>
                <a:spcPts val="135"/>
              </a:spcBef>
            </a:pPr>
            <a:r>
              <a:rPr b="1" spc="-85" dirty="0">
                <a:latin typeface="Calibri"/>
                <a:cs typeface="Calibri"/>
              </a:rPr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019" y="2048255"/>
            <a:ext cx="4285488" cy="7772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9784" y="2109216"/>
            <a:ext cx="4646675" cy="30601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019" y="3377184"/>
            <a:ext cx="4285488" cy="28559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934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756" y="2679192"/>
            <a:ext cx="4509516" cy="33588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8635" y="2583180"/>
            <a:ext cx="4283964" cy="355396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5192" y="1602713"/>
            <a:ext cx="203136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spc="-10" dirty="0">
                <a:latin typeface="Times New Roman"/>
                <a:cs typeface="Times New Roman"/>
              </a:rPr>
              <a:t>Conclusion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3000" y="2514600"/>
            <a:ext cx="8059420" cy="422743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55600" marR="6985" indent="-342900" algn="just">
              <a:lnSpc>
                <a:spcPts val="2140"/>
              </a:lnSpc>
              <a:spcBef>
                <a:spcPts val="365"/>
              </a:spcBef>
              <a:buFont typeface="Wingdings" panose="05000000000000000000" pitchFamily="2" charset="2"/>
              <a:buChar char="Ø"/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integration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Python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Streamlit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provides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powerful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toolkit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crypto </a:t>
            </a:r>
            <a:r>
              <a:rPr sz="2200" dirty="0">
                <a:latin typeface="Times New Roman"/>
                <a:cs typeface="Times New Roman"/>
              </a:rPr>
              <a:t>analysis</a:t>
            </a:r>
            <a:r>
              <a:rPr sz="2200" spc="1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visualization.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endParaRPr lang="en-US" sz="2200" spc="150" dirty="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ts val="2140"/>
              </a:lnSpc>
              <a:spcBef>
                <a:spcPts val="365"/>
              </a:spcBef>
              <a:buFont typeface="Wingdings" panose="05000000000000000000" pitchFamily="2" charset="2"/>
              <a:buChar char="Ø"/>
            </a:pPr>
            <a:r>
              <a:rPr sz="2200" dirty="0" err="1">
                <a:latin typeface="Times New Roman"/>
                <a:cs typeface="Times New Roman"/>
              </a:rPr>
              <a:t>Streamlit's</a:t>
            </a:r>
            <a:r>
              <a:rPr lang="en-US" sz="2200" spc="3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user-friendly</a:t>
            </a:r>
            <a:r>
              <a:rPr lang="en-US" sz="2200" spc="3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interface</a:t>
            </a:r>
            <a:r>
              <a:rPr sz="2200" spc="4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further</a:t>
            </a:r>
            <a:r>
              <a:rPr sz="2200" spc="4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enhances</a:t>
            </a:r>
            <a:r>
              <a:rPr sz="2200" spc="4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lang="en-US" sz="2200" spc="4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experience</a:t>
            </a:r>
            <a:r>
              <a:rPr sz="2200" spc="39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by </a:t>
            </a:r>
            <a:r>
              <a:rPr sz="2200" dirty="0">
                <a:latin typeface="Times New Roman"/>
                <a:cs typeface="Times New Roman"/>
              </a:rPr>
              <a:t>facilitating</a:t>
            </a:r>
            <a:r>
              <a:rPr sz="2200" spc="3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dynamic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dashboard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creation</a:t>
            </a:r>
            <a:r>
              <a:rPr sz="2200" spc="3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3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real-time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3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exploration.</a:t>
            </a:r>
            <a:endParaRPr lang="en-US" sz="2200" dirty="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ts val="2140"/>
              </a:lnSpc>
              <a:spcBef>
                <a:spcPts val="365"/>
              </a:spcBef>
              <a:buFont typeface="Wingdings" panose="05000000000000000000" pitchFamily="2" charset="2"/>
              <a:buChar char="Ø"/>
            </a:pP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offering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accessible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interpretable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crypto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market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insights,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integration </a:t>
            </a:r>
            <a:r>
              <a:rPr sz="2200" dirty="0">
                <a:latin typeface="Times New Roman"/>
                <a:cs typeface="Times New Roman"/>
              </a:rPr>
              <a:t>empowers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make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informed</a:t>
            </a:r>
            <a:r>
              <a:rPr sz="2200" spc="4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decisions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fast-paced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43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dynamic </a:t>
            </a:r>
            <a:r>
              <a:rPr sz="2200" dirty="0">
                <a:latin typeface="Times New Roman"/>
                <a:cs typeface="Times New Roman"/>
              </a:rPr>
              <a:t>world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cryptocurrency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trading.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endParaRPr lang="en-US" sz="2200" spc="190" dirty="0">
              <a:latin typeface="Times New Roman"/>
              <a:cs typeface="Times New Roman"/>
            </a:endParaRPr>
          </a:p>
          <a:p>
            <a:pPr marL="12700" marR="6985" algn="just">
              <a:lnSpc>
                <a:spcPts val="2140"/>
              </a:lnSpc>
              <a:spcBef>
                <a:spcPts val="365"/>
              </a:spcBef>
            </a:pPr>
            <a:endParaRPr lang="en-IN" sz="2000" spc="190" dirty="0">
              <a:latin typeface="Times New Roman"/>
              <a:cs typeface="Times New Roman"/>
            </a:endParaRPr>
          </a:p>
          <a:p>
            <a:pPr marL="12700" marR="6985" algn="just">
              <a:lnSpc>
                <a:spcPts val="2140"/>
              </a:lnSpc>
              <a:spcBef>
                <a:spcPts val="365"/>
              </a:spcBef>
            </a:pPr>
            <a:endParaRPr lang="en-IN" sz="2000" spc="190" dirty="0">
              <a:latin typeface="Times New Roman"/>
              <a:cs typeface="Times New Roman"/>
            </a:endParaRPr>
          </a:p>
          <a:p>
            <a:pPr marL="12700" marR="6985" algn="just">
              <a:lnSpc>
                <a:spcPts val="2140"/>
              </a:lnSpc>
              <a:spcBef>
                <a:spcPts val="365"/>
              </a:spcBef>
            </a:pPr>
            <a:endParaRPr lang="en-IN" sz="2000" spc="190" dirty="0">
              <a:latin typeface="Times New Roman"/>
              <a:cs typeface="Times New Roman"/>
            </a:endParaRPr>
          </a:p>
          <a:p>
            <a:pPr marL="12700" marR="6985" algn="just">
              <a:lnSpc>
                <a:spcPts val="2140"/>
              </a:lnSpc>
              <a:spcBef>
                <a:spcPts val="365"/>
              </a:spcBef>
            </a:pPr>
            <a:endParaRPr lang="en-IN" sz="2000" spc="190" dirty="0">
              <a:latin typeface="Times New Roman"/>
              <a:cs typeface="Times New Roman"/>
            </a:endParaRPr>
          </a:p>
          <a:p>
            <a:pPr marL="12700" marR="6985" algn="just">
              <a:lnSpc>
                <a:spcPts val="2140"/>
              </a:lnSpc>
              <a:spcBef>
                <a:spcPts val="365"/>
              </a:spcBef>
            </a:pPr>
            <a:endParaRPr lang="en-US" sz="2000" spc="190" dirty="0">
              <a:latin typeface="Times New Roman"/>
              <a:cs typeface="Times New Roman"/>
            </a:endParaRPr>
          </a:p>
          <a:p>
            <a:pPr marL="12700" marR="6985" algn="just">
              <a:lnSpc>
                <a:spcPts val="2140"/>
              </a:lnSpc>
              <a:spcBef>
                <a:spcPts val="365"/>
              </a:spcBef>
            </a:pPr>
            <a:endParaRPr sz="19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9077" y="2980266"/>
            <a:ext cx="6033770" cy="1232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900" spc="819" dirty="0">
                <a:latin typeface="Georgia"/>
                <a:cs typeface="Georgia"/>
              </a:rPr>
              <a:t>Thank</a:t>
            </a:r>
            <a:r>
              <a:rPr sz="7900" spc="740" dirty="0">
                <a:latin typeface="Georgia"/>
                <a:cs typeface="Georgia"/>
              </a:rPr>
              <a:t> </a:t>
            </a:r>
            <a:r>
              <a:rPr sz="7900" spc="405" dirty="0">
                <a:latin typeface="Georgia"/>
                <a:cs typeface="Georgia"/>
              </a:rPr>
              <a:t>You!</a:t>
            </a:r>
            <a:endParaRPr sz="79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1068</Words>
  <Application>Microsoft Office PowerPoint</Application>
  <PresentationFormat>Custom</PresentationFormat>
  <Paragraphs>123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Calibri</vt:lpstr>
      <vt:lpstr>Georgia</vt:lpstr>
      <vt:lpstr>Times New Roman</vt:lpstr>
      <vt:lpstr>Wingdings</vt:lpstr>
      <vt:lpstr>Office Theme</vt:lpstr>
      <vt:lpstr>Streamlit Powered Data Science Visualizing Crypto currency Markets</vt:lpstr>
      <vt:lpstr>CONTENTS</vt:lpstr>
      <vt:lpstr>Abstract</vt:lpstr>
      <vt:lpstr>Related Work</vt:lpstr>
      <vt:lpstr>PowerPoint Presentation</vt:lpstr>
      <vt:lpstr>Problem Statement</vt:lpstr>
      <vt:lpstr>Objective</vt:lpstr>
      <vt:lpstr>Proposed System</vt:lpstr>
      <vt:lpstr>Process flow and Architecture</vt:lpstr>
      <vt:lpstr>Data Set</vt:lpstr>
      <vt:lpstr>Data set</vt:lpstr>
      <vt:lpstr>Methodology</vt:lpstr>
      <vt:lpstr>Implementation</vt:lpstr>
      <vt:lpstr>1. Data Extraction</vt:lpstr>
      <vt:lpstr>2.Data Processing</vt:lpstr>
      <vt:lpstr>3.Data Visualization</vt:lpstr>
      <vt:lpstr>4.User Interface &amp; Interaction</vt:lpstr>
      <vt:lpstr>5.Cloud Deployment</vt:lpstr>
      <vt:lpstr>Deployment steps</vt:lpstr>
      <vt:lpstr>Execution and Results</vt:lpstr>
      <vt:lpstr>Results</vt:lpstr>
      <vt:lpstr>Results</vt:lpstr>
      <vt:lpstr>Results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b17 review[1]</dc:title>
  <dc:creator>Keerthilahari Jakkula</dc:creator>
  <cp:lastModifiedBy>NAGA NAVEENA</cp:lastModifiedBy>
  <cp:revision>2</cp:revision>
  <dcterms:created xsi:type="dcterms:W3CDTF">2025-02-12T16:52:39Z</dcterms:created>
  <dcterms:modified xsi:type="dcterms:W3CDTF">2025-02-13T12:57:01Z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2025-02-12T00:00:00Z</vt:filetime>
  </property>
  <property fmtid="{D5CDD505-2E9C-101B-9397-08002B2CF9AE}" pid="3" name="LastSaved">
    <vt:filetime>2025-02-12T00:00:00Z</vt:filetime>
  </property>
  <property fmtid="{D5CDD505-2E9C-101B-9397-08002B2CF9AE}" pid="4" name="Producer">
    <vt:lpwstr>Microsoft: Print To PDF</vt:lpwstr>
  </property>
</Properties>
</file>